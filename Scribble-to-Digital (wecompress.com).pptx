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Default ContentType="image/jpeg" Extension="jpeg"/>
  <Default ContentType="image/jpg" Extension="jpg"/>
  <Default ContentType="image/svg+xml" Extension="svg"/>
  <Default ContentType="image/png" Extension="png"/>
  <Default ContentType="image/gif" Extension="gif"/>
  <Default ContentType="video/mp4" Extension="m4v"/>
  <Default ContentType="video/mp4" Extension="mp4"/>
  <Default ContentType="application/vnd.openxmlformats-officedocument.vmlDrawing" Extension="vml"/>
  <Default ContentType="application/vnd.openxmlformats-officedocument.spreadsheetml.sheet" Extension="xlsx"/>
  <Override ContentType="application/vnd.openxmlformats-officedocument.presentationml.presentation.main+xml" PartName="/ppt/presentation.xml"/>
  <Override ContentType="application/vnd.openxmlformats-officedocument.presentationml.notesMaster+xml" PartName="/ppt/notesMasters/notesMaster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Master+xml" PartName="/ppt/slideMasters/slideMaster2.xml"/>
  <Override ContentType="application/vnd.openxmlformats-officedocument.presentationml.slide+xml" PartName="/ppt/slides/slide2.xml"/>
  <Override ContentType="application/vnd.openxmlformats-officedocument.presentationml.slideMaster+xml" PartName="/ppt/slideMasters/slideMaster3.xml"/>
  <Override ContentType="application/vnd.openxmlformats-officedocument.presentationml.slide+xml" PartName="/ppt/slides/slide3.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Master+xml" PartName="/ppt/slideMasters/slideMaster5.xml"/>
  <Override ContentType="application/vnd.openxmlformats-officedocument.presentationml.slide+xml" PartName="/ppt/slides/slide5.xml"/>
  <Override ContentType="application/vnd.openxmlformats-officedocument.presentationml.slideMaster+xml" PartName="/ppt/slideMasters/slideMaster6.xml"/>
  <Override ContentType="application/vnd.openxmlformats-officedocument.presentationml.slide+xml" PartName="/ppt/slides/slide6.xml"/>
  <Override ContentType="application/vnd.openxmlformats-officedocument.presentationml.slideMaster+xml" PartName="/ppt/slideMasters/slideMaster7.xml"/>
  <Override ContentType="application/vnd.openxmlformats-officedocument.presentationml.slide+xml" PartName="/ppt/slides/slide7.xml"/>
  <Override ContentType="application/vnd.openxmlformats-officedocument.presentationml.slideMaster+xml" PartName="/ppt/slideMasters/slideMaster8.xml"/>
  <Override ContentType="application/vnd.openxmlformats-officedocument.presentationml.slide+xml" PartName="/ppt/slides/slide8.xml"/>
  <Override ContentType="application/vnd.openxmlformats-officedocument.presentationml.slideMaster+xml" PartName="/ppt/slideMasters/slideMaster9.xml"/>
  <Override ContentType="application/vnd.openxmlformats-officedocument.presentationml.slide+xml" PartName="/ppt/slides/slide9.xml"/>
  <Override ContentType="application/vnd.openxmlformats-officedocument.presentationml.slideMaster+xml" PartName="/ppt/slideMasters/slideMaster10.xml"/>
  <Override ContentType="application/vnd.openxmlformats-officedocument.presentationml.slide+xml" PartName="/ppt/slides/slide10.xml"/>
  <Override ContentType="application/vnd.openxmlformats-officedocument.presentationml.slideMaster+xml" PartName="/ppt/slideMasters/slideMaster11.xml"/>
  <Override ContentType="application/vnd.openxmlformats-officedocument.presentationml.slide+xml" PartName="/ppt/slides/slide11.xml"/>
  <Override ContentType="application/vnd.openxmlformats-officedocument.presentationml.slideMaster+xml" PartName="/ppt/slideMasters/slideMaster12.xml"/>
  <Override ContentType="application/vnd.openxmlformats-officedocument.presentationml.slide+xml" PartName="/ppt/slides/slide12.xml"/>
  <Override ContentType="application/vnd.openxmlformats-officedocument.presentationml.slideMaster+xml" PartName="/ppt/slideMasters/slideMaster13.xml"/>
  <Override ContentType="application/vnd.openxmlformats-officedocument.presentationml.slide+xml" PartName="/ppt/slides/slide13.xml"/>
  <Override ContentType="application/vnd.openxmlformats-officedocument.presentationml.slideMaster+xml" PartName="/ppt/slideMasters/slideMaster14.xml"/>
  <Override ContentType="application/vnd.openxmlformats-officedocument.presentationml.slide+xml" PartName="/ppt/slides/slide14.xml"/>
  <Override ContentType="application/vnd.openxmlformats-officedocument.presentationml.slideMaster+xml" PartName="/ppt/slideMasters/slideMaster15.xml"/>
  <Override ContentType="application/vnd.openxmlformats-officedocument.presentationml.slide+xml" PartName="/ppt/slides/slide15.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
		<Relationship Id="rId1" Target="docProps/app.xml" Type="http://schemas.openxmlformats.org/officeDocument/2006/relationships/extended-properties"/>
		<Relationship Id="rId2" Target="docProps/core.xml" Type="http://schemas.openxmlformats.org/package/2006/relationships/metadata/core-properties"/>
		<Relationship Id="rId3" Target="ppt/presentation.xml" Type="http://schemas.openxmlformats.org/officeDocument/2006/relationships/officeDocument"/>
		<Relationship Id="rId4"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embeddedFontLst>
    <p:embeddedFont>
      <p:font typeface="Instrument Sans Semi Bold"/>
      <p:regular r:id="rId22"/>
    </p:embeddedFont>
    <p:embeddedFont>
      <p:font typeface="Instrument Sans Semi Bold"/>
      <p:regular r:id="rId23"/>
    </p:embeddedFont>
    <p:embeddedFont>
      <p:font typeface="Instrument Sans Semi Bold"/>
      <p:regular r:id="rId24"/>
    </p:embeddedFont>
    <p:embeddedFont>
      <p:font typeface="Instrument Sans Semi Bold"/>
      <p:regular r:id="rId25"/>
    </p:embeddedFont>
    <p:embeddedFont>
      <p:font typeface="Instrument Sans Medium"/>
      <p:regular r:id="rId26"/>
    </p:embeddedFont>
    <p:embeddedFont>
      <p:font typeface="Instrument Sans Medium"/>
      <p:regular r:id="rId27"/>
    </p:embeddedFont>
    <p:embeddedFont>
      <p:font typeface="Instrument Sans Medium"/>
      <p:regular r:id="rId28"/>
    </p:embeddedFont>
    <p:embeddedFont>
      <p:font typeface="Instrument Sans Medium"/>
      <p:regular r:id="rId2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pn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4-1.png"/><Relationship Id="rId2" Type="http://schemas.openxmlformats.org/officeDocument/2006/relationships/image" Target="../media/image-1014-2.png"/><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5-1.png"/><Relationship Id="rId2" Type="http://schemas.openxmlformats.org/officeDocument/2006/relationships/image" Target="../media/image-1015-2.png"/><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6-1.png"/><Relationship Id="rId2" Type="http://schemas.openxmlformats.org/officeDocument/2006/relationships/image" Target="../media/image-1016-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arget="../media/image-1-1.jpeg" Type="http://schemas.openxmlformats.org/officeDocument/2006/relationships/image"/><Relationship Id="rId2" Target="../slideLayouts/slideLayout2.xml" Type="http://schemas.openxmlformats.org/officeDocument/2006/relationships/slideLayout"/><Relationship Id="rId3" Target="../notesSlides/notesSlide1.xml" Type="http://schemas.openxmlformats.org/officeDocument/2006/relationships/notesSlide"/></Relationships>
</file>

<file path=ppt/slides/_rels/slide2.xml.rels><?xml version="1.0" encoding="UTF-8" standalone="yes" ?><Relationships xmlns="http://schemas.openxmlformats.org/package/2006/relationships"><Relationship Id="rId1" Target="../media/image-2-1.jpeg" Type="http://schemas.openxmlformats.org/officeDocument/2006/relationships/image"/><Relationship Id="rId2" Target="../slideLayouts/slideLayout3.xml" Type="http://schemas.openxmlformats.org/officeDocument/2006/relationships/slideLayout"/><Relationship Id="rId3" Target="../notesSlides/notesSlide2.xml" Type="http://schemas.openxmlformats.org/officeDocument/2006/relationships/notesSlide"/></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arget="../media/image-4-1.jpeg" Type="http://schemas.openxmlformats.org/officeDocument/2006/relationships/image"/><Relationship Id="rId2" Target="../media/image-4-2.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 Id="rId6" Target="../slideLayouts/slideLayout5.xml" Type="http://schemas.openxmlformats.org/officeDocument/2006/relationships/slideLayout"/><Relationship Id="rId7" Target="../notesSlides/notesSlide4.xml" Type="http://schemas.openxmlformats.org/officeDocument/2006/relationships/notesSlide"/></Relationships>
</file>

<file path=ppt/slides/_rels/slide5.xml.rels><?xml version="1.0" encoding="UTF-8" standalone="yes" ?><Relationships xmlns="http://schemas.openxmlformats.org/package/2006/relationships"><Relationship Id="rId1" Target="../media/image-5-1.jpeg" Type="http://schemas.openxmlformats.org/officeDocument/2006/relationships/image"/><Relationship Id="rId2" Target="../slideLayouts/slideLayout6.xml" Type="http://schemas.openxmlformats.org/officeDocument/2006/relationships/slideLayout"/><Relationship Id="rId3" Target="../notesSlides/notesSlide5.xml" Type="http://schemas.openxmlformats.org/officeDocument/2006/relationships/notesSlide"/></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arget="../media/image-7-1.jpeg" Type="http://schemas.openxmlformats.org/officeDocument/2006/relationships/image"/><Relationship Id="rId2" Target="../media/image-7-2.png" Type="http://schemas.openxmlformats.org/officeDocument/2006/relationships/image"/><Relationship Id="rId3" Target="../media/image-7-3.png" Type="http://schemas.openxmlformats.org/officeDocument/2006/relationships/image"/><Relationship Id="rId4" Target="../media/image-7-4.png" Type="http://schemas.openxmlformats.org/officeDocument/2006/relationships/image"/><Relationship Id="rId5" Target="../media/image-7-5.png" Type="http://schemas.openxmlformats.org/officeDocument/2006/relationships/image"/><Relationship Id="rId6" Target="../slideLayouts/slideLayout8.xml" Type="http://schemas.openxmlformats.org/officeDocument/2006/relationships/slideLayout"/><Relationship Id="rId7" Target="../notesSlides/notesSlide7.xml" Type="http://schemas.openxmlformats.org/officeDocument/2006/relationships/notesSlide"/></Relationships>
</file>

<file path=ppt/slides/_rels/slide8.xml.rels><?xml version="1.0" encoding="UTF-8" standalone="yes" ?><Relationships xmlns="http://schemas.openxmlformats.org/package/2006/relationships"><Relationship Id="rId1" Target="../media/image-8-1.jpeg" Type="http://schemas.openxmlformats.org/officeDocument/2006/relationships/image"/><Relationship Id="rId2" Target="../slideLayouts/slideLayout9.xml" Type="http://schemas.openxmlformats.org/officeDocument/2006/relationships/slideLayout"/><Relationship Id="rId3" Target="../notesSlides/notesSlide8.xml" Type="http://schemas.openxmlformats.org/officeDocument/2006/relationships/notesSlide"/></Relationships>
</file>

<file path=ppt/slides/_rels/slide9.xml.rels><?xml version="1.0" encoding="UTF-8" standalone="yes" ?><Relationships xmlns="http://schemas.openxmlformats.org/package/2006/relationships"><Relationship Id="rId1" Target="../media/image-9-1.jpeg" Type="http://schemas.openxmlformats.org/officeDocument/2006/relationships/image"/><Relationship Id="rId2" Target="../slideLayouts/slideLayout10.xml" Type="http://schemas.openxmlformats.org/officeDocument/2006/relationships/slideLayout"/><Relationship Id="rId3" Target="../notesSlides/notesSlide9.xml" Type="http://schemas.openxmlformats.org/officeDocument/2006/relationships/notesSlide"/></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9.png"/><Relationship Id="rId10" Type="http://schemas.openxmlformats.org/officeDocument/2006/relationships/image" Target="../media/image-11-10.svg"/><Relationship Id="rId11" Type="http://schemas.openxmlformats.org/officeDocument/2006/relationships/image" Target="../media/image-11-11.png"/><Relationship Id="rId12" Type="http://schemas.openxmlformats.org/officeDocument/2006/relationships/image" Target="../media/image-11-12.svg"/><Relationship Id="rId13" Type="http://schemas.openxmlformats.org/officeDocument/2006/relationships/slideLayout" Target="../slideLayouts/slideLayout12.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arget="../media/image-14-1.jpeg" Type="http://schemas.openxmlformats.org/officeDocument/2006/relationships/image"/><Relationship Id="rId2" Target="../slideLayouts/slideLayout15.xml" Type="http://schemas.openxmlformats.org/officeDocument/2006/relationships/slideLayout"/><Relationship Id="rId3" Target="../notesSlides/notesSlide14.xml" Type="http://schemas.openxmlformats.org/officeDocument/2006/relationships/notesSlide"/></Relationships>
</file>

<file path=ppt/slides/_rels/slide15.xml.rels><?xml version="1.0" encoding="UTF-8" standalone="yes" ?><Relationships xmlns="http://schemas.openxmlformats.org/package/2006/relationships"><Relationship Id="rId1" Target="../media/image-15-1.jpeg" Type="http://schemas.openxmlformats.org/officeDocument/2006/relationships/image"/><Relationship Id="rId2" Target="../media/image-15-2.png" Type="http://schemas.openxmlformats.org/officeDocument/2006/relationships/image"/><Relationship Id="rId3" Target="../media/image-15-3.png" Type="http://schemas.openxmlformats.org/officeDocument/2006/relationships/image"/><Relationship Id="rId4" Target="../media/image-15-4.svg" Type="http://schemas.openxmlformats.org/officeDocument/2006/relationships/image"/><Relationship Id="rId5" Target="../media/image-15-5.png" Type="http://schemas.openxmlformats.org/officeDocument/2006/relationships/image"/><Relationship Id="rId6" Target="../media/image-15-6.png" Type="http://schemas.openxmlformats.org/officeDocument/2006/relationships/image"/><Relationship Id="rId7" Target="../media/image-15-7.svg" Type="http://schemas.openxmlformats.org/officeDocument/2006/relationships/image"/><Relationship Id="rId8" Target="../media/image-15-8.png" Type="http://schemas.openxmlformats.org/officeDocument/2006/relationships/image"/><Relationship Id="rId9" Target="../media/image-15-9.png" Type="http://schemas.openxmlformats.org/officeDocument/2006/relationships/image"/><Relationship Id="rId10" Target="../media/image-15-10.svg" Type="http://schemas.openxmlformats.org/officeDocument/2006/relationships/image"/><Relationship Id="rId11" Target="../slideLayouts/slideLayout16.xml" Type="http://schemas.openxmlformats.org/officeDocument/2006/relationships/slideLayout"/><Relationship Id="rId12" Target="../notesSlides/notesSlide15.xml" Type="http://schemas.openxmlformats.org/officeDocument/2006/relationships/notesSlide"/></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22742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Scribble to Digital</a:t>
            </a:r>
            <a:endParaRPr lang="en-US" sz="4450" dirty="0"/>
          </a:p>
        </p:txBody>
      </p:sp>
      <p:sp>
        <p:nvSpPr>
          <p:cNvPr id="4" name="Text 1"/>
          <p:cNvSpPr/>
          <p:nvPr/>
        </p:nvSpPr>
        <p:spPr>
          <a:xfrm>
            <a:off x="6280190" y="427636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An AI-powered system that converts handwritten notes into clean, structured digital text with automatic task extraction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78255"/>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Transforming Handwritten Chaos into Digital Clarity</a:t>
            </a:r>
            <a:endParaRPr lang="en-US" sz="4450" dirty="0"/>
          </a:p>
        </p:txBody>
      </p:sp>
      <p:sp>
        <p:nvSpPr>
          <p:cNvPr id="4" name="Text 1"/>
          <p:cNvSpPr/>
          <p:nvPr/>
        </p:nvSpPr>
        <p:spPr>
          <a:xfrm>
            <a:off x="793790" y="326278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BCCCE"/>
                </a:solidFill>
                <a:latin typeface="Instrument Sans Semi Bold" pitchFamily="34" charset="0"/>
                <a:ea typeface="Instrument Sans Semi Bold" pitchFamily="34" charset="-122"/>
                <a:cs typeface="Instrument Sans Semi Bold" pitchFamily="34" charset="-120"/>
              </a:rPr>
              <a:t>The Challenge</a:t>
            </a:r>
            <a:endParaRPr lang="en-US" sz="2200" dirty="0"/>
          </a:p>
        </p:txBody>
      </p:sp>
      <p:sp>
        <p:nvSpPr>
          <p:cNvPr id="5" name="Text 2"/>
          <p:cNvSpPr/>
          <p:nvPr/>
        </p:nvSpPr>
        <p:spPr>
          <a:xfrm>
            <a:off x="793790" y="3843933"/>
            <a:ext cx="3501509" cy="290322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Students and professionals face daily productivity hurdles when digitising handwritten notes. Poor lighting, unclear handwriting, and mixed content reduce efficiency and demand time-consuming manual rewriting.</a:t>
            </a:r>
            <a:endParaRPr lang="en-US" sz="1750" dirty="0"/>
          </a:p>
        </p:txBody>
      </p:sp>
      <p:sp>
        <p:nvSpPr>
          <p:cNvPr id="6" name="Text 3"/>
          <p:cNvSpPr/>
          <p:nvPr/>
        </p:nvSpPr>
        <p:spPr>
          <a:xfrm>
            <a:off x="4856321" y="326278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BCCCE"/>
                </a:solidFill>
                <a:latin typeface="Instrument Sans Semi Bold" pitchFamily="34" charset="0"/>
                <a:ea typeface="Instrument Sans Semi Bold" pitchFamily="34" charset="-122"/>
                <a:cs typeface="Instrument Sans Semi Bold" pitchFamily="34" charset="-120"/>
              </a:rPr>
              <a:t>Our Solution</a:t>
            </a:r>
            <a:endParaRPr lang="en-US" sz="2200" dirty="0"/>
          </a:p>
        </p:txBody>
      </p:sp>
      <p:sp>
        <p:nvSpPr>
          <p:cNvPr id="7" name="Text 4"/>
          <p:cNvSpPr/>
          <p:nvPr/>
        </p:nvSpPr>
        <p:spPr>
          <a:xfrm>
            <a:off x="4856321" y="3843933"/>
            <a:ext cx="3501509" cy="2540318"/>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AI-powered conversion that enhances images, extracts text via OCR, and applies Generative AI to correct grammar whilst automatically extracting actionable tasks. Built with Streamlit and Python.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11618"/>
            <a:ext cx="6274713"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Three Core Capabilities</a:t>
            </a:r>
            <a:endParaRPr lang="en-US" sz="4450" dirty="0"/>
          </a:p>
        </p:txBody>
      </p:sp>
      <p:sp>
        <p:nvSpPr>
          <p:cNvPr id="3" name="Shape 1"/>
          <p:cNvSpPr/>
          <p:nvPr/>
        </p:nvSpPr>
        <p:spPr>
          <a:xfrm>
            <a:off x="793790" y="2674025"/>
            <a:ext cx="4196358" cy="4043958"/>
          </a:xfrm>
          <a:prstGeom prst="roundRect">
            <a:avLst>
              <a:gd name="adj" fmla="val 2356"/>
            </a:avLst>
          </a:prstGeom>
          <a:solidFill>
            <a:srgbClr val="3D3D42"/>
          </a:solidFill>
          <a:ln w="7620">
            <a:solidFill>
              <a:srgbClr val="56565B"/>
            </a:solidFill>
            <a:prstDash val="solid"/>
          </a:ln>
        </p:spPr>
      </p:sp>
      <p:pic>
        <p:nvPicPr>
          <p:cNvPr id="4" name="Image 0" descr="preencoded.png">    </p:cNvPr>
          <p:cNvPicPr>
            <a:picLocks noChangeAspect="1"/>
          </p:cNvPicPr>
          <p:nvPr/>
        </p:nvPicPr>
        <p:blipFill>
          <a:blip r:embed="rId1"/>
          <a:stretch>
            <a:fillRect/>
          </a:stretch>
        </p:blipFill>
        <p:spPr>
          <a:xfrm>
            <a:off x="1028224" y="2908459"/>
            <a:ext cx="680442" cy="680442"/>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15390" y="3095506"/>
            <a:ext cx="306110" cy="306110"/>
          </a:xfrm>
          <a:prstGeom prst="rect">
            <a:avLst/>
          </a:prstGeom>
        </p:spPr>
      </p:pic>
      <p:sp>
        <p:nvSpPr>
          <p:cNvPr id="6" name="Text 2"/>
          <p:cNvSpPr/>
          <p:nvPr/>
        </p:nvSpPr>
        <p:spPr>
          <a:xfrm>
            <a:off x="1028224" y="381571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Image Enhancement</a:t>
            </a:r>
            <a:endParaRPr lang="en-US" sz="2200" dirty="0"/>
          </a:p>
        </p:txBody>
      </p:sp>
      <p:sp>
        <p:nvSpPr>
          <p:cNvPr id="7" name="Text 3"/>
          <p:cNvSpPr/>
          <p:nvPr/>
        </p:nvSpPr>
        <p:spPr>
          <a:xfrm>
            <a:off x="1028224" y="4306133"/>
            <a:ext cx="3727490" cy="217741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OpenCV processes uploaded images by converting to grayscale, adjusting brightness and contrast, reducing noise, and applying thresholding for optimal OCR accuracy.</a:t>
            </a:r>
            <a:endParaRPr lang="en-US" sz="1750" dirty="0"/>
          </a:p>
        </p:txBody>
      </p:sp>
      <p:sp>
        <p:nvSpPr>
          <p:cNvPr id="8" name="Shape 4"/>
          <p:cNvSpPr/>
          <p:nvPr/>
        </p:nvSpPr>
        <p:spPr>
          <a:xfrm>
            <a:off x="5216962" y="2674025"/>
            <a:ext cx="4196358" cy="4043958"/>
          </a:xfrm>
          <a:prstGeom prst="roundRect">
            <a:avLst>
              <a:gd name="adj" fmla="val 2356"/>
            </a:avLst>
          </a:prstGeom>
          <a:solidFill>
            <a:srgbClr val="3D3D42"/>
          </a:solidFill>
          <a:ln w="7620">
            <a:solidFill>
              <a:srgbClr val="56565B"/>
            </a:solidFill>
            <a:prstDash val="solid"/>
          </a:ln>
        </p:spPr>
      </p:sp>
      <p:pic>
        <p:nvPicPr>
          <p:cNvPr id="9" name="Image 2" descr="preencoded.png">    </p:cNvPr>
          <p:cNvPicPr>
            <a:picLocks noChangeAspect="1"/>
          </p:cNvPicPr>
          <p:nvPr/>
        </p:nvPicPr>
        <p:blipFill>
          <a:blip r:embed="rId4"/>
          <a:stretch>
            <a:fillRect/>
          </a:stretch>
        </p:blipFill>
        <p:spPr>
          <a:xfrm>
            <a:off x="5451396" y="2908459"/>
            <a:ext cx="680442" cy="680442"/>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8562" y="3095506"/>
            <a:ext cx="306110" cy="306110"/>
          </a:xfrm>
          <a:prstGeom prst="rect">
            <a:avLst/>
          </a:prstGeom>
        </p:spPr>
      </p:pic>
      <p:sp>
        <p:nvSpPr>
          <p:cNvPr id="11" name="Text 5"/>
          <p:cNvSpPr/>
          <p:nvPr/>
        </p:nvSpPr>
        <p:spPr>
          <a:xfrm>
            <a:off x="5451396" y="3815715"/>
            <a:ext cx="2854762"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Intelligent Correction</a:t>
            </a:r>
            <a:endParaRPr lang="en-US" sz="2200" dirty="0"/>
          </a:p>
        </p:txBody>
      </p:sp>
      <p:sp>
        <p:nvSpPr>
          <p:cNvPr id="12" name="Text 6"/>
          <p:cNvSpPr/>
          <p:nvPr/>
        </p:nvSpPr>
        <p:spPr>
          <a:xfrm>
            <a:off x="5451396" y="4306133"/>
            <a:ext cx="3727490" cy="217741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Generative AI analyses extracted text to correct spelling, improve grammar, reconstruct incomplete words using contextual understanding, and format into readable paragraphs.</a:t>
            </a:r>
            <a:endParaRPr lang="en-US" sz="1750" dirty="0"/>
          </a:p>
        </p:txBody>
      </p:sp>
      <p:sp>
        <p:nvSpPr>
          <p:cNvPr id="13" name="Shape 7"/>
          <p:cNvSpPr/>
          <p:nvPr/>
        </p:nvSpPr>
        <p:spPr>
          <a:xfrm>
            <a:off x="9640133" y="2674025"/>
            <a:ext cx="4196358" cy="4043958"/>
          </a:xfrm>
          <a:prstGeom prst="roundRect">
            <a:avLst>
              <a:gd name="adj" fmla="val 2356"/>
            </a:avLst>
          </a:prstGeom>
          <a:solidFill>
            <a:srgbClr val="3D3D42"/>
          </a:solidFill>
          <a:ln w="7620">
            <a:solidFill>
              <a:srgbClr val="56565B"/>
            </a:solidFill>
            <a:prstDash val="solid"/>
          </a:ln>
        </p:spPr>
      </p:sp>
      <p:pic>
        <p:nvPicPr>
          <p:cNvPr id="14" name="Image 4" descr="preencoded.png">    </p:cNvPr>
          <p:cNvPicPr>
            <a:picLocks noChangeAspect="1"/>
          </p:cNvPicPr>
          <p:nvPr/>
        </p:nvPicPr>
        <p:blipFill>
          <a:blip r:embed="rId7"/>
          <a:stretch>
            <a:fillRect/>
          </a:stretch>
        </p:blipFill>
        <p:spPr>
          <a:xfrm>
            <a:off x="9874568" y="2908459"/>
            <a:ext cx="680442" cy="680442"/>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61734" y="3095506"/>
            <a:ext cx="306110" cy="306110"/>
          </a:xfrm>
          <a:prstGeom prst="rect">
            <a:avLst/>
          </a:prstGeom>
        </p:spPr>
      </p:pic>
      <p:sp>
        <p:nvSpPr>
          <p:cNvPr id="16" name="Text 8"/>
          <p:cNvSpPr/>
          <p:nvPr/>
        </p:nvSpPr>
        <p:spPr>
          <a:xfrm>
            <a:off x="9874568" y="381571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Task Extraction</a:t>
            </a:r>
            <a:endParaRPr lang="en-US" sz="2200" dirty="0"/>
          </a:p>
        </p:txBody>
      </p:sp>
      <p:sp>
        <p:nvSpPr>
          <p:cNvPr id="17" name="Text 9"/>
          <p:cNvSpPr/>
          <p:nvPr/>
        </p:nvSpPr>
        <p:spPr>
          <a:xfrm>
            <a:off x="9874568" y="4306133"/>
            <a:ext cx="3727490" cy="1814513"/>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AI identifies task-oriented statements, extracts actionable items, and organises them into structured bullet-point to-do lists for improved productivity.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868561"/>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System Architecture</a:t>
            </a:r>
            <a:endParaRPr lang="en-US" sz="4450" dirty="0"/>
          </a:p>
        </p:txBody>
      </p:sp>
      <p:pic>
        <p:nvPicPr>
          <p:cNvPr id="4" name="Image 1" descr="preencoded.png">    </p:cNvPr>
          <p:cNvPicPr>
            <a:picLocks noChangeAspect="1"/>
          </p:cNvPicPr>
          <p:nvPr/>
        </p:nvPicPr>
        <p:blipFill>
          <a:blip r:embed="rId2"/>
          <a:stretch>
            <a:fillRect/>
          </a:stretch>
        </p:blipFill>
        <p:spPr>
          <a:xfrm>
            <a:off x="6280190" y="1917502"/>
            <a:ext cx="1134070" cy="1360884"/>
          </a:xfrm>
          <a:prstGeom prst="rect">
            <a:avLst/>
          </a:prstGeom>
        </p:spPr>
      </p:pic>
      <p:sp>
        <p:nvSpPr>
          <p:cNvPr id="5" name="Text 1"/>
          <p:cNvSpPr/>
          <p:nvPr/>
        </p:nvSpPr>
        <p:spPr>
          <a:xfrm>
            <a:off x="7641074" y="214431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Streamlit Frontend</a:t>
            </a:r>
            <a:endParaRPr lang="en-US" sz="2200" dirty="0"/>
          </a:p>
        </p:txBody>
      </p:sp>
      <p:sp>
        <p:nvSpPr>
          <p:cNvPr id="6" name="Text 2"/>
          <p:cNvSpPr/>
          <p:nvPr/>
        </p:nvSpPr>
        <p:spPr>
          <a:xfrm>
            <a:off x="7641074" y="2634734"/>
            <a:ext cx="6195536"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User interface for image uploads and result display</a:t>
            </a:r>
            <a:endParaRPr lang="en-US" sz="1750" dirty="0"/>
          </a:p>
        </p:txBody>
      </p:sp>
      <p:pic>
        <p:nvPicPr>
          <p:cNvPr id="7" name="Image 2" descr="preencoded.png">    </p:cNvPr>
          <p:cNvPicPr>
            <a:picLocks noChangeAspect="1"/>
          </p:cNvPicPr>
          <p:nvPr/>
        </p:nvPicPr>
        <p:blipFill>
          <a:blip r:embed="rId3"/>
          <a:stretch>
            <a:fillRect/>
          </a:stretch>
        </p:blipFill>
        <p:spPr>
          <a:xfrm>
            <a:off x="6280190" y="3278386"/>
            <a:ext cx="1134070" cy="1360884"/>
          </a:xfrm>
          <a:prstGeom prst="rect">
            <a:avLst/>
          </a:prstGeom>
        </p:spPr>
      </p:pic>
      <p:sp>
        <p:nvSpPr>
          <p:cNvPr id="8" name="Text 3"/>
          <p:cNvSpPr/>
          <p:nvPr/>
        </p:nvSpPr>
        <p:spPr>
          <a:xfrm>
            <a:off x="7641074" y="350520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OpenCV Processing</a:t>
            </a:r>
            <a:endParaRPr lang="en-US" sz="2200" dirty="0"/>
          </a:p>
        </p:txBody>
      </p:sp>
      <p:sp>
        <p:nvSpPr>
          <p:cNvPr id="9" name="Text 4"/>
          <p:cNvSpPr/>
          <p:nvPr/>
        </p:nvSpPr>
        <p:spPr>
          <a:xfrm>
            <a:off x="7641074" y="3995618"/>
            <a:ext cx="6195536"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Image enhancement and preprocessing</a:t>
            </a:r>
            <a:endParaRPr lang="en-US" sz="1750" dirty="0"/>
          </a:p>
        </p:txBody>
      </p:sp>
      <p:pic>
        <p:nvPicPr>
          <p:cNvPr id="10" name="Image 3" descr="preencoded.png">    </p:cNvPr>
          <p:cNvPicPr>
            <a:picLocks noChangeAspect="1"/>
          </p:cNvPicPr>
          <p:nvPr/>
        </p:nvPicPr>
        <p:blipFill>
          <a:blip r:embed="rId4"/>
          <a:stretch>
            <a:fillRect/>
          </a:stretch>
        </p:blipFill>
        <p:spPr>
          <a:xfrm>
            <a:off x="6280190" y="4639270"/>
            <a:ext cx="1134070" cy="1360884"/>
          </a:xfrm>
          <a:prstGeom prst="rect">
            <a:avLst/>
          </a:prstGeom>
        </p:spPr>
      </p:pic>
      <p:sp>
        <p:nvSpPr>
          <p:cNvPr id="11" name="Text 5"/>
          <p:cNvSpPr/>
          <p:nvPr/>
        </p:nvSpPr>
        <p:spPr>
          <a:xfrm>
            <a:off x="7641074" y="486608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OCR Engine</a:t>
            </a:r>
            <a:endParaRPr lang="en-US" sz="2200" dirty="0"/>
          </a:p>
        </p:txBody>
      </p:sp>
      <p:sp>
        <p:nvSpPr>
          <p:cNvPr id="12" name="Text 6"/>
          <p:cNvSpPr/>
          <p:nvPr/>
        </p:nvSpPr>
        <p:spPr>
          <a:xfrm>
            <a:off x="7641074" y="5356503"/>
            <a:ext cx="6195536"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Tesseract/EasyOCR text extraction</a:t>
            </a:r>
            <a:endParaRPr lang="en-US" sz="1750" dirty="0"/>
          </a:p>
        </p:txBody>
      </p:sp>
      <p:pic>
        <p:nvPicPr>
          <p:cNvPr id="13" name="Image 4" descr="preencoded.png">    </p:cNvPr>
          <p:cNvPicPr>
            <a:picLocks noChangeAspect="1"/>
          </p:cNvPicPr>
          <p:nvPr/>
        </p:nvPicPr>
        <p:blipFill>
          <a:blip r:embed="rId5"/>
          <a:stretch>
            <a:fillRect/>
          </a:stretch>
        </p:blipFill>
        <p:spPr>
          <a:xfrm>
            <a:off x="6280190" y="6000155"/>
            <a:ext cx="1134070" cy="1360884"/>
          </a:xfrm>
          <a:prstGeom prst="rect">
            <a:avLst/>
          </a:prstGeom>
        </p:spPr>
      </p:pic>
      <p:sp>
        <p:nvSpPr>
          <p:cNvPr id="14" name="Text 7"/>
          <p:cNvSpPr/>
          <p:nvPr/>
        </p:nvSpPr>
        <p:spPr>
          <a:xfrm>
            <a:off x="7641074" y="622696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Gemini 2.5 Flash</a:t>
            </a:r>
            <a:endParaRPr lang="en-US" sz="2200" dirty="0"/>
          </a:p>
        </p:txBody>
      </p:sp>
      <p:sp>
        <p:nvSpPr>
          <p:cNvPr id="15" name="Text 8"/>
          <p:cNvSpPr/>
          <p:nvPr/>
        </p:nvSpPr>
        <p:spPr>
          <a:xfrm>
            <a:off x="7641074" y="6717387"/>
            <a:ext cx="6195536"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AI contextual correction and task extraction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3786" y="600075"/>
            <a:ext cx="7488793" cy="681990"/>
          </a:xfrm>
          <a:prstGeom prst="rect">
            <a:avLst/>
          </a:prstGeom>
          <a:noFill/>
          <a:ln/>
        </p:spPr>
        <p:txBody>
          <a:bodyPr wrap="none" lIns="0" tIns="0" rIns="0" bIns="0" rtlCol="0" anchor="t"/>
          <a:lstStyle/>
          <a:p>
            <a:pPr algn="l" indent="0" marL="0">
              <a:lnSpc>
                <a:spcPts val="5350"/>
              </a:lnSpc>
              <a:buNone/>
            </a:pPr>
            <a:r>
              <a:rPr lang="en-US" sz="4250" dirty="0">
                <a:solidFill>
                  <a:srgbClr val="CBCCCE"/>
                </a:solidFill>
                <a:latin typeface="Instrument Sans Semi Bold" pitchFamily="34" charset="0"/>
                <a:ea typeface="Instrument Sans Semi Bold" pitchFamily="34" charset="-122"/>
                <a:cs typeface="Instrument Sans Semi Bold" pitchFamily="34" charset="-120"/>
              </a:rPr>
              <a:t>Image Enhancement Process</a:t>
            </a:r>
            <a:endParaRPr lang="en-US" sz="4250" dirty="0"/>
          </a:p>
        </p:txBody>
      </p:sp>
      <p:sp>
        <p:nvSpPr>
          <p:cNvPr id="3" name="Text 1"/>
          <p:cNvSpPr/>
          <p:nvPr/>
        </p:nvSpPr>
        <p:spPr>
          <a:xfrm>
            <a:off x="763786" y="2739509"/>
            <a:ext cx="2727960" cy="340876"/>
          </a:xfrm>
          <a:prstGeom prst="rect">
            <a:avLst/>
          </a:prstGeom>
          <a:noFill/>
          <a:ln/>
        </p:spPr>
        <p:txBody>
          <a:bodyPr wrap="none" lIns="0" tIns="0" rIns="0" bIns="0" rtlCol="0" anchor="t"/>
          <a:lstStyle/>
          <a:p>
            <a:pPr algn="l" indent="0" marL="0">
              <a:lnSpc>
                <a:spcPts val="2650"/>
              </a:lnSpc>
              <a:buNone/>
            </a:pPr>
            <a:r>
              <a:rPr lang="en-US" sz="2100" dirty="0">
                <a:solidFill>
                  <a:srgbClr val="CBCCCE"/>
                </a:solidFill>
                <a:latin typeface="Instrument Sans Semi Bold" pitchFamily="34" charset="0"/>
                <a:ea typeface="Instrument Sans Semi Bold" pitchFamily="34" charset="-122"/>
                <a:cs typeface="Instrument Sans Semi Bold" pitchFamily="34" charset="-120"/>
              </a:rPr>
              <a:t>Processing Pipeline</a:t>
            </a:r>
            <a:endParaRPr lang="en-US" sz="2100" dirty="0"/>
          </a:p>
        </p:txBody>
      </p:sp>
      <p:sp>
        <p:nvSpPr>
          <p:cNvPr id="4" name="Text 2"/>
          <p:cNvSpPr/>
          <p:nvPr/>
        </p:nvSpPr>
        <p:spPr>
          <a:xfrm>
            <a:off x="763786" y="3290292"/>
            <a:ext cx="4239816" cy="2422565"/>
          </a:xfrm>
          <a:prstGeom prst="rect">
            <a:avLst/>
          </a:prstGeom>
          <a:noFill/>
          <a:ln/>
        </p:spPr>
        <p:txBody>
          <a:bodyPr wrap="square" lIns="0" tIns="0" rIns="0" bIns="0" rtlCol="0" anchor="t"/>
          <a:lstStyle/>
          <a:p>
            <a:pPr algn="l" marL="342900" indent="-342900">
              <a:lnSpc>
                <a:spcPts val="2650"/>
              </a:lnSpc>
              <a:buSzPct val="100000"/>
              <a:buFont typeface="+mj-lt"/>
              <a:buAutoNum type="arabicPeriod" startAt="1"/>
            </a:pPr>
            <a:r>
              <a:rPr lang="en-US" sz="1700" dirty="0">
                <a:solidFill>
                  <a:srgbClr val="CFD0D8"/>
                </a:solidFill>
                <a:latin typeface="Instrument Sans Medium" pitchFamily="34" charset="0"/>
                <a:ea typeface="Instrument Sans Medium" pitchFamily="34" charset="-122"/>
                <a:cs typeface="Instrument Sans Medium" pitchFamily="34" charset="-120"/>
              </a:rPr>
              <a:t>Image upload via Streamlit interface</a:t>
            </a:r>
            <a:endParaRPr lang="en-US" sz="1700" dirty="0"/>
          </a:p>
          <a:p>
            <a:pPr algn="l" marL="342900" indent="-342900">
              <a:lnSpc>
                <a:spcPts val="2650"/>
              </a:lnSpc>
              <a:buSzPct val="100000"/>
              <a:buFont typeface="+mj-lt"/>
              <a:buAutoNum type="arabicPeriod" startAt="2"/>
            </a:pPr>
            <a:r>
              <a:rPr lang="en-US" sz="1700" dirty="0">
                <a:solidFill>
                  <a:srgbClr val="CFD0D8"/>
                </a:solidFill>
                <a:latin typeface="Instrument Sans Medium" pitchFamily="34" charset="0"/>
                <a:ea typeface="Instrument Sans Medium" pitchFamily="34" charset="-122"/>
                <a:cs typeface="Instrument Sans Medium" pitchFamily="34" charset="-120"/>
              </a:rPr>
              <a:t>Grayscale conversion for consistency</a:t>
            </a:r>
            <a:endParaRPr lang="en-US" sz="1700" dirty="0"/>
          </a:p>
          <a:p>
            <a:pPr algn="l" marL="342900" indent="-342900">
              <a:lnSpc>
                <a:spcPts val="2650"/>
              </a:lnSpc>
              <a:buSzPct val="100000"/>
              <a:buFont typeface="+mj-lt"/>
              <a:buAutoNum type="arabicPeriod" startAt="3"/>
            </a:pPr>
            <a:r>
              <a:rPr lang="en-US" sz="1700" dirty="0">
                <a:solidFill>
                  <a:srgbClr val="CFD0D8"/>
                </a:solidFill>
                <a:latin typeface="Instrument Sans Medium" pitchFamily="34" charset="0"/>
                <a:ea typeface="Instrument Sans Medium" pitchFamily="34" charset="-122"/>
                <a:cs typeface="Instrument Sans Medium" pitchFamily="34" charset="-120"/>
              </a:rPr>
              <a:t>Brightness and contrast adjustment</a:t>
            </a:r>
            <a:endParaRPr lang="en-US" sz="1700" dirty="0"/>
          </a:p>
          <a:p>
            <a:pPr algn="l" marL="342900" indent="-342900">
              <a:lnSpc>
                <a:spcPts val="2650"/>
              </a:lnSpc>
              <a:buSzPct val="100000"/>
              <a:buFont typeface="+mj-lt"/>
              <a:buAutoNum type="arabicPeriod" startAt="4"/>
            </a:pPr>
            <a:r>
              <a:rPr lang="en-US" sz="1700" dirty="0">
                <a:solidFill>
                  <a:srgbClr val="CFD0D8"/>
                </a:solidFill>
                <a:latin typeface="Instrument Sans Medium" pitchFamily="34" charset="0"/>
                <a:ea typeface="Instrument Sans Medium" pitchFamily="34" charset="-122"/>
                <a:cs typeface="Instrument Sans Medium" pitchFamily="34" charset="-120"/>
              </a:rPr>
              <a:t>Noise reduction filters applied</a:t>
            </a:r>
            <a:endParaRPr lang="en-US" sz="1700" dirty="0"/>
          </a:p>
          <a:p>
            <a:pPr algn="l" marL="342900" indent="-342900">
              <a:lnSpc>
                <a:spcPts val="2650"/>
              </a:lnSpc>
              <a:buSzPct val="100000"/>
              <a:buFont typeface="+mj-lt"/>
              <a:buAutoNum type="arabicPeriod" startAt="5"/>
            </a:pPr>
            <a:r>
              <a:rPr lang="en-US" sz="1700" dirty="0">
                <a:solidFill>
                  <a:srgbClr val="CFD0D8"/>
                </a:solidFill>
                <a:latin typeface="Instrument Sans Medium" pitchFamily="34" charset="0"/>
                <a:ea typeface="Instrument Sans Medium" pitchFamily="34" charset="-122"/>
                <a:cs typeface="Instrument Sans Medium" pitchFamily="34" charset="-120"/>
              </a:rPr>
              <a:t>Adaptive thresholding techniques</a:t>
            </a:r>
            <a:endParaRPr lang="en-US" sz="1700" dirty="0"/>
          </a:p>
          <a:p>
            <a:pPr algn="l" marL="342900" indent="-342900">
              <a:lnSpc>
                <a:spcPts val="2650"/>
              </a:lnSpc>
              <a:buSzPct val="100000"/>
              <a:buFont typeface="+mj-lt"/>
              <a:buAutoNum type="arabicPeriod" startAt="6"/>
            </a:pPr>
            <a:r>
              <a:rPr lang="en-US" sz="1700" dirty="0">
                <a:solidFill>
                  <a:srgbClr val="CFD0D8"/>
                </a:solidFill>
                <a:latin typeface="Instrument Sans Medium" pitchFamily="34" charset="0"/>
                <a:ea typeface="Instrument Sans Medium" pitchFamily="34" charset="-122"/>
                <a:cs typeface="Instrument Sans Medium" pitchFamily="34" charset="-120"/>
              </a:rPr>
              <a:t>Enhanced image passed to OCR</a:t>
            </a:r>
            <a:endParaRPr lang="en-US" sz="1700" dirty="0"/>
          </a:p>
        </p:txBody>
      </p:sp>
      <p:pic>
        <p:nvPicPr>
          <p:cNvPr id="5" name="Image 0" descr="preencoded.png">    </p:cNvPr>
          <p:cNvPicPr>
            <a:picLocks noChangeAspect="1"/>
          </p:cNvPicPr>
          <p:nvPr/>
        </p:nvPicPr>
        <p:blipFill>
          <a:blip r:embed="rId1"/>
          <a:stretch>
            <a:fillRect/>
          </a:stretch>
        </p:blipFill>
        <p:spPr>
          <a:xfrm>
            <a:off x="5543669" y="1833205"/>
            <a:ext cx="8330446" cy="4649510"/>
          </a:xfrm>
          <a:prstGeom prst="rect">
            <a:avLst/>
          </a:prstGeom>
        </p:spPr>
      </p:pic>
      <p:sp>
        <p:nvSpPr>
          <p:cNvPr id="6" name="Text 3"/>
          <p:cNvSpPr/>
          <p:nvPr/>
        </p:nvSpPr>
        <p:spPr>
          <a:xfrm>
            <a:off x="763786" y="6955155"/>
            <a:ext cx="13102828" cy="685086"/>
          </a:xfrm>
          <a:prstGeom prst="rect">
            <a:avLst/>
          </a:prstGeom>
          <a:noFill/>
          <a:ln/>
        </p:spPr>
        <p:txBody>
          <a:bodyPr wrap="square" lIns="0" tIns="0" rIns="0" bIns="0" rtlCol="0" anchor="t"/>
          <a:lstStyle/>
          <a:p>
            <a:pPr algn="l" indent="0" marL="0">
              <a:lnSpc>
                <a:spcPts val="2650"/>
              </a:lnSpc>
              <a:buNone/>
            </a:pPr>
            <a:r>
              <a:rPr lang="en-US" sz="1700" dirty="0">
                <a:solidFill>
                  <a:srgbClr val="CFD0D8"/>
                </a:solidFill>
                <a:latin typeface="Instrument Sans Medium" pitchFamily="34" charset="0"/>
                <a:ea typeface="Instrument Sans Medium" pitchFamily="34" charset="-122"/>
                <a:cs typeface="Instrument Sans Medium" pitchFamily="34" charset="-120"/>
              </a:rPr>
              <a:t>This preprocessing ensures better readability and higher text recognition accuracy even for low-quality or unclear handwriting, significantly improving OCR performance.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11768"/>
            <a:ext cx="6017895"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Architecture Overview</a:t>
            </a:r>
            <a:endParaRPr lang="en-US" sz="4450" dirty="0"/>
          </a:p>
        </p:txBody>
      </p:sp>
      <p:pic>
        <p:nvPicPr>
          <p:cNvPr id="3" name="Image 0" descr="preencoded.png">    </p:cNvPr>
          <p:cNvPicPr>
            <a:picLocks noChangeAspect="1"/>
          </p:cNvPicPr>
          <p:nvPr/>
        </p:nvPicPr>
        <p:blipFill>
          <a:blip r:embed="rId1"/>
          <a:stretch>
            <a:fillRect/>
          </a:stretch>
        </p:blipFill>
        <p:spPr>
          <a:xfrm>
            <a:off x="793790" y="1974175"/>
            <a:ext cx="1134070" cy="1360884"/>
          </a:xfrm>
          <a:prstGeom prst="rect">
            <a:avLst/>
          </a:prstGeom>
        </p:spPr>
      </p:pic>
      <p:sp>
        <p:nvSpPr>
          <p:cNvPr id="4" name="Text 1"/>
          <p:cNvSpPr/>
          <p:nvPr/>
        </p:nvSpPr>
        <p:spPr>
          <a:xfrm>
            <a:off x="2154674" y="220098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Frontend Layer</a:t>
            </a:r>
            <a:endParaRPr lang="en-US" sz="2200" dirty="0"/>
          </a:p>
        </p:txBody>
      </p:sp>
      <p:sp>
        <p:nvSpPr>
          <p:cNvPr id="5" name="Text 2"/>
          <p:cNvSpPr/>
          <p:nvPr/>
        </p:nvSpPr>
        <p:spPr>
          <a:xfrm>
            <a:off x="2154674" y="2691408"/>
            <a:ext cx="11681936"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Streamlit interface accepts image uploads and displays processed results with enhanced previews</a:t>
            </a:r>
            <a:endParaRPr lang="en-US" sz="1750" dirty="0"/>
          </a:p>
        </p:txBody>
      </p:sp>
      <p:pic>
        <p:nvPicPr>
          <p:cNvPr id="6" name="Image 1" descr="preencoded.png">    </p:cNvPr>
          <p:cNvPicPr>
            <a:picLocks noChangeAspect="1"/>
          </p:cNvPicPr>
          <p:nvPr/>
        </p:nvPicPr>
        <p:blipFill>
          <a:blip r:embed="rId2"/>
          <a:stretch>
            <a:fillRect/>
          </a:stretch>
        </p:blipFill>
        <p:spPr>
          <a:xfrm>
            <a:off x="793790" y="3335060"/>
            <a:ext cx="1134070" cy="1360884"/>
          </a:xfrm>
          <a:prstGeom prst="rect">
            <a:avLst/>
          </a:prstGeom>
        </p:spPr>
      </p:pic>
      <p:sp>
        <p:nvSpPr>
          <p:cNvPr id="7" name="Text 3"/>
          <p:cNvSpPr/>
          <p:nvPr/>
        </p:nvSpPr>
        <p:spPr>
          <a:xfrm>
            <a:off x="2154674" y="356187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Processing Layer</a:t>
            </a:r>
            <a:endParaRPr lang="en-US" sz="2200" dirty="0"/>
          </a:p>
        </p:txBody>
      </p:sp>
      <p:sp>
        <p:nvSpPr>
          <p:cNvPr id="8" name="Text 4"/>
          <p:cNvSpPr/>
          <p:nvPr/>
        </p:nvSpPr>
        <p:spPr>
          <a:xfrm>
            <a:off x="2154674" y="4052292"/>
            <a:ext cx="11681936"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OpenCV enhances images whilst OCR extracts raw text from processed handwriting</a:t>
            </a:r>
            <a:endParaRPr lang="en-US" sz="1750" dirty="0"/>
          </a:p>
        </p:txBody>
      </p:sp>
      <p:pic>
        <p:nvPicPr>
          <p:cNvPr id="9" name="Image 2" descr="preencoded.png">    </p:cNvPr>
          <p:cNvPicPr>
            <a:picLocks noChangeAspect="1"/>
          </p:cNvPicPr>
          <p:nvPr/>
        </p:nvPicPr>
        <p:blipFill>
          <a:blip r:embed="rId3"/>
          <a:stretch>
            <a:fillRect/>
          </a:stretch>
        </p:blipFill>
        <p:spPr>
          <a:xfrm>
            <a:off x="793790" y="4695944"/>
            <a:ext cx="1134070" cy="1360884"/>
          </a:xfrm>
          <a:prstGeom prst="rect">
            <a:avLst/>
          </a:prstGeom>
        </p:spPr>
      </p:pic>
      <p:sp>
        <p:nvSpPr>
          <p:cNvPr id="10" name="Text 5"/>
          <p:cNvSpPr/>
          <p:nvPr/>
        </p:nvSpPr>
        <p:spPr>
          <a:xfrm>
            <a:off x="2154674" y="492275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AI Layer</a:t>
            </a:r>
            <a:endParaRPr lang="en-US" sz="2200" dirty="0"/>
          </a:p>
        </p:txBody>
      </p:sp>
      <p:sp>
        <p:nvSpPr>
          <p:cNvPr id="11" name="Text 6"/>
          <p:cNvSpPr/>
          <p:nvPr/>
        </p:nvSpPr>
        <p:spPr>
          <a:xfrm>
            <a:off x="2154674" y="5413177"/>
            <a:ext cx="11681936"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Gemini corrects grammar, reconstructs words, formats paragraphs, and extracts tasks</a:t>
            </a:r>
            <a:endParaRPr lang="en-US" sz="1750" dirty="0"/>
          </a:p>
        </p:txBody>
      </p:sp>
      <p:pic>
        <p:nvPicPr>
          <p:cNvPr id="12" name="Image 3" descr="preencoded.png">    </p:cNvPr>
          <p:cNvPicPr>
            <a:picLocks noChangeAspect="1"/>
          </p:cNvPicPr>
          <p:nvPr/>
        </p:nvPicPr>
        <p:blipFill>
          <a:blip r:embed="rId4"/>
          <a:stretch>
            <a:fillRect/>
          </a:stretch>
        </p:blipFill>
        <p:spPr>
          <a:xfrm>
            <a:off x="793790" y="6056828"/>
            <a:ext cx="1134070" cy="1360884"/>
          </a:xfrm>
          <a:prstGeom prst="rect">
            <a:avLst/>
          </a:prstGeom>
        </p:spPr>
      </p:pic>
      <p:sp>
        <p:nvSpPr>
          <p:cNvPr id="13" name="Text 7"/>
          <p:cNvSpPr/>
          <p:nvPr/>
        </p:nvSpPr>
        <p:spPr>
          <a:xfrm>
            <a:off x="2154674" y="628364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Export Layer</a:t>
            </a:r>
            <a:endParaRPr lang="en-US" sz="2200" dirty="0"/>
          </a:p>
        </p:txBody>
      </p:sp>
      <p:sp>
        <p:nvSpPr>
          <p:cNvPr id="14" name="Text 8"/>
          <p:cNvSpPr/>
          <p:nvPr/>
        </p:nvSpPr>
        <p:spPr>
          <a:xfrm>
            <a:off x="2154674" y="6774061"/>
            <a:ext cx="11681936"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ReportLab and Python-DOCX generate PDF and Word documents for download</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21956" y="1122759"/>
            <a:ext cx="5991106" cy="567452"/>
          </a:xfrm>
          <a:prstGeom prst="rect">
            <a:avLst/>
          </a:prstGeom>
          <a:noFill/>
          <a:ln/>
        </p:spPr>
        <p:txBody>
          <a:bodyPr wrap="none" lIns="0" tIns="0" rIns="0" bIns="0" rtlCol="0" anchor="t"/>
          <a:lstStyle/>
          <a:p>
            <a:pPr algn="l" indent="0" marL="0">
              <a:lnSpc>
                <a:spcPts val="4450"/>
              </a:lnSpc>
              <a:buNone/>
            </a:pPr>
            <a:r>
              <a:rPr lang="en-US" sz="3550" dirty="0">
                <a:solidFill>
                  <a:srgbClr val="CBCCCE"/>
                </a:solidFill>
                <a:latin typeface="Instrument Sans Semi Bold" pitchFamily="34" charset="0"/>
                <a:ea typeface="Instrument Sans Semi Bold" pitchFamily="34" charset="-122"/>
                <a:cs typeface="Instrument Sans Semi Bold" pitchFamily="34" charset="-120"/>
              </a:rPr>
              <a:t>AI-Powered Text Correction</a:t>
            </a:r>
            <a:endParaRPr lang="en-US" sz="3550" dirty="0"/>
          </a:p>
        </p:txBody>
      </p:sp>
      <p:sp>
        <p:nvSpPr>
          <p:cNvPr id="4" name="Text 1"/>
          <p:cNvSpPr/>
          <p:nvPr/>
        </p:nvSpPr>
        <p:spPr>
          <a:xfrm>
            <a:off x="6121956" y="1908215"/>
            <a:ext cx="181570" cy="226933"/>
          </a:xfrm>
          <a:prstGeom prst="rect">
            <a:avLst/>
          </a:prstGeom>
          <a:noFill/>
          <a:ln/>
        </p:spPr>
        <p:txBody>
          <a:bodyPr wrap="none" lIns="0" tIns="0" rIns="0" bIns="0" rtlCol="0" anchor="t"/>
          <a:lstStyle/>
          <a:p>
            <a:pPr algn="l" indent="0" marL="0">
              <a:lnSpc>
                <a:spcPts val="2050"/>
              </a:lnSpc>
              <a:buNone/>
            </a:pPr>
            <a:r>
              <a:rPr lang="en-US" sz="1400" dirty="0">
                <a:solidFill>
                  <a:srgbClr val="CFD0D8"/>
                </a:solidFill>
                <a:latin typeface="Instrument Sans Light" pitchFamily="34" charset="0"/>
                <a:ea typeface="Instrument Sans Light" pitchFamily="34" charset="-122"/>
                <a:cs typeface="Instrument Sans Light" pitchFamily="34" charset="-120"/>
              </a:rPr>
              <a:t>01</a:t>
            </a:r>
            <a:endParaRPr lang="en-US" sz="1400" dirty="0"/>
          </a:p>
        </p:txBody>
      </p:sp>
      <p:pic>
        <p:nvPicPr>
          <p:cNvPr id="5" name="Image 1" descr="preencoded.png">    </p:cNvPr>
          <p:cNvPicPr>
            <a:picLocks noChangeAspect="1"/>
          </p:cNvPicPr>
          <p:nvPr/>
        </p:nvPicPr>
        <p:blipFill>
          <a:blip r:embed="rId2"/>
          <a:stretch>
            <a:fillRect/>
          </a:stretch>
        </p:blipFill>
        <p:spPr>
          <a:xfrm>
            <a:off x="6121956" y="2193965"/>
            <a:ext cx="7872889" cy="22860"/>
          </a:xfrm>
          <a:prstGeom prst="rect">
            <a:avLst/>
          </a:prstGeom>
        </p:spPr>
      </p:pic>
      <p:sp>
        <p:nvSpPr>
          <p:cNvPr id="6" name="Text 2"/>
          <p:cNvSpPr/>
          <p:nvPr/>
        </p:nvSpPr>
        <p:spPr>
          <a:xfrm>
            <a:off x="6121956" y="2330410"/>
            <a:ext cx="2269927" cy="283726"/>
          </a:xfrm>
          <a:prstGeom prst="rect">
            <a:avLst/>
          </a:prstGeom>
          <a:noFill/>
          <a:ln/>
        </p:spPr>
        <p:txBody>
          <a:bodyPr wrap="none" lIns="0" tIns="0" rIns="0" bIns="0" rtlCol="0" anchor="t"/>
          <a:lstStyle/>
          <a:p>
            <a:pPr algn="l" indent="0" marL="0">
              <a:lnSpc>
                <a:spcPts val="2200"/>
              </a:lnSpc>
              <a:buNone/>
            </a:pPr>
            <a:r>
              <a:rPr lang="en-US" sz="1750" dirty="0">
                <a:solidFill>
                  <a:srgbClr val="CFD0D8"/>
                </a:solidFill>
                <a:latin typeface="Instrument Sans Semi Bold" pitchFamily="34" charset="0"/>
                <a:ea typeface="Instrument Sans Semi Bold" pitchFamily="34" charset="-122"/>
                <a:cs typeface="Instrument Sans Semi Bold" pitchFamily="34" charset="-120"/>
              </a:rPr>
              <a:t>Error Detection</a:t>
            </a:r>
            <a:endParaRPr lang="en-US" sz="1750" dirty="0"/>
          </a:p>
        </p:txBody>
      </p:sp>
      <p:sp>
        <p:nvSpPr>
          <p:cNvPr id="7" name="Text 3"/>
          <p:cNvSpPr/>
          <p:nvPr/>
        </p:nvSpPr>
        <p:spPr>
          <a:xfrm>
            <a:off x="6121956" y="2701290"/>
            <a:ext cx="7872889" cy="261461"/>
          </a:xfrm>
          <a:prstGeom prst="rect">
            <a:avLst/>
          </a:prstGeom>
          <a:noFill/>
          <a:ln/>
        </p:spPr>
        <p:txBody>
          <a:bodyPr wrap="none" lIns="0" tIns="0" rIns="0" bIns="0" rtlCol="0" anchor="t"/>
          <a:lstStyle/>
          <a:p>
            <a:pPr algn="l" indent="0" marL="0">
              <a:lnSpc>
                <a:spcPts val="205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Identifies spelling mistakes, missing letters, and broken words from handwriting variations</a:t>
            </a:r>
            <a:endParaRPr lang="en-US" sz="1400" dirty="0"/>
          </a:p>
        </p:txBody>
      </p:sp>
      <p:sp>
        <p:nvSpPr>
          <p:cNvPr id="8" name="Text 4"/>
          <p:cNvSpPr/>
          <p:nvPr/>
        </p:nvSpPr>
        <p:spPr>
          <a:xfrm>
            <a:off x="6121956" y="3244215"/>
            <a:ext cx="181570" cy="226933"/>
          </a:xfrm>
          <a:prstGeom prst="rect">
            <a:avLst/>
          </a:prstGeom>
          <a:noFill/>
          <a:ln/>
        </p:spPr>
        <p:txBody>
          <a:bodyPr wrap="none" lIns="0" tIns="0" rIns="0" bIns="0" rtlCol="0" anchor="t"/>
          <a:lstStyle/>
          <a:p>
            <a:pPr algn="l" indent="0" marL="0">
              <a:lnSpc>
                <a:spcPts val="2050"/>
              </a:lnSpc>
              <a:buNone/>
            </a:pPr>
            <a:r>
              <a:rPr lang="en-US" sz="1400" dirty="0">
                <a:solidFill>
                  <a:srgbClr val="CFD0D8"/>
                </a:solidFill>
                <a:latin typeface="Instrument Sans Light" pitchFamily="34" charset="0"/>
                <a:ea typeface="Instrument Sans Light" pitchFamily="34" charset="-122"/>
                <a:cs typeface="Instrument Sans Light" pitchFamily="34" charset="-120"/>
              </a:rPr>
              <a:t>02</a:t>
            </a:r>
            <a:endParaRPr lang="en-US" sz="1400" dirty="0"/>
          </a:p>
        </p:txBody>
      </p:sp>
      <p:pic>
        <p:nvPicPr>
          <p:cNvPr id="9" name="Image 2" descr="preencoded.png">    </p:cNvPr>
          <p:cNvPicPr>
            <a:picLocks noChangeAspect="1"/>
          </p:cNvPicPr>
          <p:nvPr/>
        </p:nvPicPr>
        <p:blipFill>
          <a:blip r:embed="rId3"/>
          <a:stretch>
            <a:fillRect/>
          </a:stretch>
        </p:blipFill>
        <p:spPr>
          <a:xfrm>
            <a:off x="6121956" y="3511748"/>
            <a:ext cx="7872889" cy="22860"/>
          </a:xfrm>
          <a:prstGeom prst="rect">
            <a:avLst/>
          </a:prstGeom>
        </p:spPr>
      </p:pic>
      <p:sp>
        <p:nvSpPr>
          <p:cNvPr id="10" name="Text 5"/>
          <p:cNvSpPr/>
          <p:nvPr/>
        </p:nvSpPr>
        <p:spPr>
          <a:xfrm>
            <a:off x="6121956" y="3666411"/>
            <a:ext cx="2269927" cy="283726"/>
          </a:xfrm>
          <a:prstGeom prst="rect">
            <a:avLst/>
          </a:prstGeom>
          <a:noFill/>
          <a:ln/>
        </p:spPr>
        <p:txBody>
          <a:bodyPr wrap="none" lIns="0" tIns="0" rIns="0" bIns="0" rtlCol="0" anchor="t"/>
          <a:lstStyle/>
          <a:p>
            <a:pPr algn="l" indent="0" marL="0">
              <a:lnSpc>
                <a:spcPts val="2200"/>
              </a:lnSpc>
              <a:buNone/>
            </a:pPr>
            <a:r>
              <a:rPr lang="en-US" sz="1750" dirty="0">
                <a:solidFill>
                  <a:srgbClr val="CFD0D8"/>
                </a:solidFill>
                <a:latin typeface="Instrument Sans Semi Bold" pitchFamily="34" charset="0"/>
                <a:ea typeface="Instrument Sans Semi Bold" pitchFamily="34" charset="-122"/>
                <a:cs typeface="Instrument Sans Semi Bold" pitchFamily="34" charset="-120"/>
              </a:rPr>
              <a:t>Contextual Analysis</a:t>
            </a:r>
            <a:endParaRPr lang="en-US" sz="1750" dirty="0"/>
          </a:p>
        </p:txBody>
      </p:sp>
      <p:sp>
        <p:nvSpPr>
          <p:cNvPr id="11" name="Text 6"/>
          <p:cNvSpPr/>
          <p:nvPr/>
        </p:nvSpPr>
        <p:spPr>
          <a:xfrm>
            <a:off x="6121956" y="4037290"/>
            <a:ext cx="7872889" cy="261461"/>
          </a:xfrm>
          <a:prstGeom prst="rect">
            <a:avLst/>
          </a:prstGeom>
          <a:noFill/>
          <a:ln/>
        </p:spPr>
        <p:txBody>
          <a:bodyPr wrap="none" lIns="0" tIns="0" rIns="0" bIns="0" rtlCol="0" anchor="t"/>
          <a:lstStyle/>
          <a:p>
            <a:pPr algn="l" indent="0" marL="0">
              <a:lnSpc>
                <a:spcPts val="205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Uses semantic understanding to reconstruct incomplete or unclear words accurately</a:t>
            </a:r>
            <a:endParaRPr lang="en-US" sz="1400" dirty="0"/>
          </a:p>
        </p:txBody>
      </p:sp>
      <p:sp>
        <p:nvSpPr>
          <p:cNvPr id="12" name="Text 7"/>
          <p:cNvSpPr/>
          <p:nvPr/>
        </p:nvSpPr>
        <p:spPr>
          <a:xfrm>
            <a:off x="6121956" y="4580215"/>
            <a:ext cx="181570" cy="226933"/>
          </a:xfrm>
          <a:prstGeom prst="rect">
            <a:avLst/>
          </a:prstGeom>
          <a:noFill/>
          <a:ln/>
        </p:spPr>
        <p:txBody>
          <a:bodyPr wrap="none" lIns="0" tIns="0" rIns="0" bIns="0" rtlCol="0" anchor="t"/>
          <a:lstStyle/>
          <a:p>
            <a:pPr algn="l" indent="0" marL="0">
              <a:lnSpc>
                <a:spcPts val="2050"/>
              </a:lnSpc>
              <a:buNone/>
            </a:pPr>
            <a:r>
              <a:rPr lang="en-US" sz="1400" dirty="0">
                <a:solidFill>
                  <a:srgbClr val="CFD0D8"/>
                </a:solidFill>
                <a:latin typeface="Instrument Sans Light" pitchFamily="34" charset="0"/>
                <a:ea typeface="Instrument Sans Light" pitchFamily="34" charset="-122"/>
                <a:cs typeface="Instrument Sans Light" pitchFamily="34" charset="-120"/>
              </a:rPr>
              <a:t>03</a:t>
            </a:r>
            <a:endParaRPr lang="en-US" sz="1400" dirty="0"/>
          </a:p>
        </p:txBody>
      </p:sp>
      <p:pic>
        <p:nvPicPr>
          <p:cNvPr id="13" name="Image 3" descr="preencoded.png">    </p:cNvPr>
          <p:cNvPicPr>
            <a:picLocks noChangeAspect="1"/>
          </p:cNvPicPr>
          <p:nvPr/>
        </p:nvPicPr>
        <p:blipFill>
          <a:blip r:embed="rId4"/>
          <a:stretch>
            <a:fillRect/>
          </a:stretch>
        </p:blipFill>
        <p:spPr>
          <a:xfrm>
            <a:off x="6121956" y="4829651"/>
            <a:ext cx="7872889" cy="22860"/>
          </a:xfrm>
          <a:prstGeom prst="rect">
            <a:avLst/>
          </a:prstGeom>
        </p:spPr>
      </p:pic>
      <p:sp>
        <p:nvSpPr>
          <p:cNvPr id="14" name="Text 8"/>
          <p:cNvSpPr/>
          <p:nvPr/>
        </p:nvSpPr>
        <p:spPr>
          <a:xfrm>
            <a:off x="6121956" y="5002411"/>
            <a:ext cx="2269927" cy="283726"/>
          </a:xfrm>
          <a:prstGeom prst="rect">
            <a:avLst/>
          </a:prstGeom>
          <a:noFill/>
          <a:ln/>
        </p:spPr>
        <p:txBody>
          <a:bodyPr wrap="none" lIns="0" tIns="0" rIns="0" bIns="0" rtlCol="0" anchor="t"/>
          <a:lstStyle/>
          <a:p>
            <a:pPr algn="l" indent="0" marL="0">
              <a:lnSpc>
                <a:spcPts val="2200"/>
              </a:lnSpc>
              <a:buNone/>
            </a:pPr>
            <a:r>
              <a:rPr lang="en-US" sz="1750" dirty="0">
                <a:solidFill>
                  <a:srgbClr val="CFD0D8"/>
                </a:solidFill>
                <a:latin typeface="Instrument Sans Semi Bold" pitchFamily="34" charset="0"/>
                <a:ea typeface="Instrument Sans Semi Bold" pitchFamily="34" charset="-122"/>
                <a:cs typeface="Instrument Sans Semi Bold" pitchFamily="34" charset="-120"/>
              </a:rPr>
              <a:t>Grammar Correction</a:t>
            </a:r>
            <a:endParaRPr lang="en-US" sz="1750" dirty="0"/>
          </a:p>
        </p:txBody>
      </p:sp>
      <p:sp>
        <p:nvSpPr>
          <p:cNvPr id="15" name="Text 9"/>
          <p:cNvSpPr/>
          <p:nvPr/>
        </p:nvSpPr>
        <p:spPr>
          <a:xfrm>
            <a:off x="6121956" y="5373291"/>
            <a:ext cx="7872889" cy="261461"/>
          </a:xfrm>
          <a:prstGeom prst="rect">
            <a:avLst/>
          </a:prstGeom>
          <a:noFill/>
          <a:ln/>
        </p:spPr>
        <p:txBody>
          <a:bodyPr wrap="none" lIns="0" tIns="0" rIns="0" bIns="0" rtlCol="0" anchor="t"/>
          <a:lstStyle/>
          <a:p>
            <a:pPr algn="l" indent="0" marL="0">
              <a:lnSpc>
                <a:spcPts val="205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Improves sentence structure and punctuation for professional readability</a:t>
            </a:r>
            <a:endParaRPr lang="en-US" sz="1400" dirty="0"/>
          </a:p>
        </p:txBody>
      </p:sp>
      <p:sp>
        <p:nvSpPr>
          <p:cNvPr id="16" name="Text 10"/>
          <p:cNvSpPr/>
          <p:nvPr/>
        </p:nvSpPr>
        <p:spPr>
          <a:xfrm>
            <a:off x="6121956" y="5916216"/>
            <a:ext cx="181570" cy="226933"/>
          </a:xfrm>
          <a:prstGeom prst="rect">
            <a:avLst/>
          </a:prstGeom>
          <a:noFill/>
          <a:ln/>
        </p:spPr>
        <p:txBody>
          <a:bodyPr wrap="none" lIns="0" tIns="0" rIns="0" bIns="0" rtlCol="0" anchor="t"/>
          <a:lstStyle/>
          <a:p>
            <a:pPr algn="l" indent="0" marL="0">
              <a:lnSpc>
                <a:spcPts val="2050"/>
              </a:lnSpc>
              <a:buNone/>
            </a:pPr>
            <a:r>
              <a:rPr lang="en-US" sz="1400" dirty="0">
                <a:solidFill>
                  <a:srgbClr val="CFD0D8"/>
                </a:solidFill>
                <a:latin typeface="Instrument Sans Light" pitchFamily="34" charset="0"/>
                <a:ea typeface="Instrument Sans Light" pitchFamily="34" charset="-122"/>
                <a:cs typeface="Instrument Sans Light" pitchFamily="34" charset="-120"/>
              </a:rPr>
              <a:t>04</a:t>
            </a:r>
            <a:endParaRPr lang="en-US" sz="1400" dirty="0"/>
          </a:p>
        </p:txBody>
      </p:sp>
      <p:pic>
        <p:nvPicPr>
          <p:cNvPr id="17" name="Image 4" descr="preencoded.png">    </p:cNvPr>
          <p:cNvPicPr>
            <a:picLocks noChangeAspect="1"/>
          </p:cNvPicPr>
          <p:nvPr/>
        </p:nvPicPr>
        <p:blipFill>
          <a:blip r:embed="rId5"/>
          <a:stretch>
            <a:fillRect/>
          </a:stretch>
        </p:blipFill>
        <p:spPr>
          <a:xfrm>
            <a:off x="6121956" y="6147435"/>
            <a:ext cx="7872889" cy="22860"/>
          </a:xfrm>
          <a:prstGeom prst="rect">
            <a:avLst/>
          </a:prstGeom>
        </p:spPr>
      </p:pic>
      <p:sp>
        <p:nvSpPr>
          <p:cNvPr id="18" name="Text 11"/>
          <p:cNvSpPr/>
          <p:nvPr/>
        </p:nvSpPr>
        <p:spPr>
          <a:xfrm>
            <a:off x="6121956" y="6338411"/>
            <a:ext cx="2269927" cy="283726"/>
          </a:xfrm>
          <a:prstGeom prst="rect">
            <a:avLst/>
          </a:prstGeom>
          <a:noFill/>
          <a:ln/>
        </p:spPr>
        <p:txBody>
          <a:bodyPr wrap="none" lIns="0" tIns="0" rIns="0" bIns="0" rtlCol="0" anchor="t"/>
          <a:lstStyle/>
          <a:p>
            <a:pPr algn="l" indent="0" marL="0">
              <a:lnSpc>
                <a:spcPts val="2200"/>
              </a:lnSpc>
              <a:buNone/>
            </a:pPr>
            <a:r>
              <a:rPr lang="en-US" sz="1750" dirty="0">
                <a:solidFill>
                  <a:srgbClr val="CFD0D8"/>
                </a:solidFill>
                <a:latin typeface="Instrument Sans Semi Bold" pitchFamily="34" charset="0"/>
                <a:ea typeface="Instrument Sans Semi Bold" pitchFamily="34" charset="-122"/>
                <a:cs typeface="Instrument Sans Semi Bold" pitchFamily="34" charset="-120"/>
              </a:rPr>
              <a:t>Formatting</a:t>
            </a:r>
            <a:endParaRPr lang="en-US" sz="1750" dirty="0"/>
          </a:p>
        </p:txBody>
      </p:sp>
      <p:sp>
        <p:nvSpPr>
          <p:cNvPr id="19" name="Text 12"/>
          <p:cNvSpPr/>
          <p:nvPr/>
        </p:nvSpPr>
        <p:spPr>
          <a:xfrm>
            <a:off x="6121956" y="6709291"/>
            <a:ext cx="7872889" cy="261461"/>
          </a:xfrm>
          <a:prstGeom prst="rect">
            <a:avLst/>
          </a:prstGeom>
          <a:noFill/>
          <a:ln/>
        </p:spPr>
        <p:txBody>
          <a:bodyPr wrap="none" lIns="0" tIns="0" rIns="0" bIns="0" rtlCol="0" anchor="t"/>
          <a:lstStyle/>
          <a:p>
            <a:pPr algn="l" indent="0" marL="0">
              <a:lnSpc>
                <a:spcPts val="205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Organises content into structured paragraphs with proper flow</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09268"/>
            <a:ext cx="7043023"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Automatic Task Extraction</a:t>
            </a:r>
            <a:endParaRPr lang="en-US" sz="4450" dirty="0"/>
          </a:p>
        </p:txBody>
      </p:sp>
      <p:pic>
        <p:nvPicPr>
          <p:cNvPr id="3" name="Image 0" descr="preencoded.png">    </p:cNvPr>
          <p:cNvPicPr>
            <a:picLocks noChangeAspect="1"/>
          </p:cNvPicPr>
          <p:nvPr/>
        </p:nvPicPr>
        <p:blipFill>
          <a:blip r:embed="rId1"/>
          <a:stretch>
            <a:fillRect/>
          </a:stretch>
        </p:blipFill>
        <p:spPr>
          <a:xfrm>
            <a:off x="793790" y="2327434"/>
            <a:ext cx="8284131" cy="4623673"/>
          </a:xfrm>
          <a:prstGeom prst="rect">
            <a:avLst/>
          </a:prstGeom>
        </p:spPr>
      </p:pic>
      <p:sp>
        <p:nvSpPr>
          <p:cNvPr id="4" name="Text 1"/>
          <p:cNvSpPr/>
          <p:nvPr/>
        </p:nvSpPr>
        <p:spPr>
          <a:xfrm>
            <a:off x="9638943" y="208502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BCCCE"/>
                </a:solidFill>
                <a:latin typeface="Instrument Sans Semi Bold" pitchFamily="34" charset="0"/>
                <a:ea typeface="Instrument Sans Semi Bold" pitchFamily="34" charset="-122"/>
                <a:cs typeface="Instrument Sans Semi Bold" pitchFamily="34" charset="-120"/>
              </a:rPr>
              <a:t>How It Works</a:t>
            </a:r>
            <a:endParaRPr lang="en-US" sz="2200" dirty="0"/>
          </a:p>
        </p:txBody>
      </p:sp>
      <p:sp>
        <p:nvSpPr>
          <p:cNvPr id="5" name="Text 2"/>
          <p:cNvSpPr/>
          <p:nvPr/>
        </p:nvSpPr>
        <p:spPr>
          <a:xfrm>
            <a:off x="9638943" y="2666167"/>
            <a:ext cx="4205168" cy="1088708"/>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The AI system analyses sentence intent to detect task-oriented statements and extract actionable items automatically.</a:t>
            </a:r>
            <a:endParaRPr lang="en-US" sz="1750" dirty="0"/>
          </a:p>
        </p:txBody>
      </p:sp>
      <p:sp>
        <p:nvSpPr>
          <p:cNvPr id="6" name="Text 3"/>
          <p:cNvSpPr/>
          <p:nvPr/>
        </p:nvSpPr>
        <p:spPr>
          <a:xfrm>
            <a:off x="9638943" y="398168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BCCCE"/>
                </a:solidFill>
                <a:latin typeface="Instrument Sans Semi Bold" pitchFamily="34" charset="0"/>
                <a:ea typeface="Instrument Sans Semi Bold" pitchFamily="34" charset="-122"/>
                <a:cs typeface="Instrument Sans Semi Bold" pitchFamily="34" charset="-120"/>
              </a:rPr>
              <a:t>Key Features</a:t>
            </a:r>
            <a:endParaRPr lang="en-US" sz="2200" dirty="0"/>
          </a:p>
        </p:txBody>
      </p:sp>
      <p:sp>
        <p:nvSpPr>
          <p:cNvPr id="7" name="Text 4"/>
          <p:cNvSpPr/>
          <p:nvPr/>
        </p:nvSpPr>
        <p:spPr>
          <a:xfrm>
            <a:off x="9638943" y="4562832"/>
            <a:ext cx="4205168" cy="2778204"/>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Distinguishes tasks from general notes</a:t>
            </a:r>
            <a:endParaRPr lang="en-US" sz="1750" dirty="0"/>
          </a:p>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Organises into structured bullet-point lists</a:t>
            </a:r>
            <a:endParaRPr lang="en-US" sz="1750" dirty="0"/>
          </a:p>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Identifies action verbs and keywords</a:t>
            </a:r>
            <a:endParaRPr lang="en-US" sz="1750" dirty="0"/>
          </a:p>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Separates information from action items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0327" y="894874"/>
            <a:ext cx="5840849" cy="634246"/>
          </a:xfrm>
          <a:prstGeom prst="rect">
            <a:avLst/>
          </a:prstGeom>
          <a:noFill/>
          <a:ln/>
        </p:spPr>
        <p:txBody>
          <a:bodyPr wrap="none" lIns="0" tIns="0" rIns="0" bIns="0" rtlCol="0" anchor="t"/>
          <a:lstStyle/>
          <a:p>
            <a:pPr algn="l" indent="0" marL="0">
              <a:lnSpc>
                <a:spcPts val="4950"/>
              </a:lnSpc>
              <a:buNone/>
            </a:pPr>
            <a:r>
              <a:rPr lang="en-US" sz="3950" dirty="0">
                <a:solidFill>
                  <a:srgbClr val="CBCCCE"/>
                </a:solidFill>
                <a:latin typeface="Instrument Sans Semi Bold" pitchFamily="34" charset="0"/>
                <a:ea typeface="Instrument Sans Semi Bold" pitchFamily="34" charset="-122"/>
                <a:cs typeface="Instrument Sans Semi Bold" pitchFamily="34" charset="-120"/>
              </a:rPr>
              <a:t>Implementation Process</a:t>
            </a:r>
            <a:endParaRPr lang="en-US" sz="3950" dirty="0"/>
          </a:p>
        </p:txBody>
      </p:sp>
      <p:sp>
        <p:nvSpPr>
          <p:cNvPr id="4" name="Shape 1"/>
          <p:cNvSpPr/>
          <p:nvPr/>
        </p:nvSpPr>
        <p:spPr>
          <a:xfrm>
            <a:off x="938570" y="1801416"/>
            <a:ext cx="22860" cy="5533311"/>
          </a:xfrm>
          <a:prstGeom prst="roundRect">
            <a:avLst>
              <a:gd name="adj" fmla="val 372894"/>
            </a:avLst>
          </a:prstGeom>
          <a:solidFill>
            <a:srgbClr val="56565B"/>
          </a:solidFill>
          <a:ln/>
        </p:spPr>
      </p:sp>
      <p:sp>
        <p:nvSpPr>
          <p:cNvPr id="5" name="Shape 2"/>
          <p:cNvSpPr/>
          <p:nvPr/>
        </p:nvSpPr>
        <p:spPr>
          <a:xfrm>
            <a:off x="1144012" y="2018228"/>
            <a:ext cx="608767" cy="22860"/>
          </a:xfrm>
          <a:prstGeom prst="roundRect">
            <a:avLst>
              <a:gd name="adj" fmla="val 372894"/>
            </a:avLst>
          </a:prstGeom>
          <a:solidFill>
            <a:srgbClr val="56565B"/>
          </a:solidFill>
          <a:ln/>
        </p:spPr>
      </p:sp>
      <p:sp>
        <p:nvSpPr>
          <p:cNvPr id="6" name="Shape 3"/>
          <p:cNvSpPr/>
          <p:nvPr/>
        </p:nvSpPr>
        <p:spPr>
          <a:xfrm>
            <a:off x="710267" y="1801416"/>
            <a:ext cx="456605" cy="456605"/>
          </a:xfrm>
          <a:prstGeom prst="roundRect">
            <a:avLst>
              <a:gd name="adj" fmla="val 18669"/>
            </a:avLst>
          </a:prstGeom>
          <a:solidFill>
            <a:srgbClr val="3D3D42"/>
          </a:solidFill>
          <a:ln w="7620">
            <a:solidFill>
              <a:srgbClr val="56565B"/>
            </a:solidFill>
            <a:prstDash val="solid"/>
          </a:ln>
        </p:spPr>
      </p:sp>
      <p:sp>
        <p:nvSpPr>
          <p:cNvPr id="7" name="Text 4"/>
          <p:cNvSpPr/>
          <p:nvPr/>
        </p:nvSpPr>
        <p:spPr>
          <a:xfrm>
            <a:off x="786348" y="1839397"/>
            <a:ext cx="304324" cy="380524"/>
          </a:xfrm>
          <a:prstGeom prst="rect">
            <a:avLst/>
          </a:prstGeom>
          <a:noFill/>
          <a:ln/>
        </p:spPr>
        <p:txBody>
          <a:bodyPr wrap="none" lIns="0" tIns="0" rIns="0" bIns="0" rtlCol="0" anchor="t"/>
          <a:lstStyle/>
          <a:p>
            <a:pPr algn="ctr" indent="0" marL="0">
              <a:lnSpc>
                <a:spcPts val="2350"/>
              </a:lnSpc>
              <a:buNone/>
            </a:pPr>
            <a:r>
              <a:rPr lang="en-US" sz="2350" dirty="0">
                <a:solidFill>
                  <a:srgbClr val="CFD0D8"/>
                </a:solidFill>
                <a:latin typeface="Instrument Sans Semi Bold" pitchFamily="34" charset="0"/>
                <a:ea typeface="Instrument Sans Semi Bold" pitchFamily="34" charset="-122"/>
                <a:cs typeface="Instrument Sans Semi Bold" pitchFamily="34" charset="-120"/>
              </a:rPr>
              <a:t>1</a:t>
            </a:r>
            <a:endParaRPr lang="en-US" sz="2350" dirty="0"/>
          </a:p>
        </p:txBody>
      </p:sp>
      <p:sp>
        <p:nvSpPr>
          <p:cNvPr id="8" name="Text 5"/>
          <p:cNvSpPr/>
          <p:nvPr/>
        </p:nvSpPr>
        <p:spPr>
          <a:xfrm>
            <a:off x="1953458" y="1871067"/>
            <a:ext cx="2536984" cy="317063"/>
          </a:xfrm>
          <a:prstGeom prst="rect">
            <a:avLst/>
          </a:prstGeom>
          <a:noFill/>
          <a:ln/>
        </p:spPr>
        <p:txBody>
          <a:bodyPr wrap="none" lIns="0" tIns="0" rIns="0" bIns="0" rtlCol="0" anchor="t"/>
          <a:lstStyle/>
          <a:p>
            <a:pPr algn="l" indent="0" marL="0">
              <a:lnSpc>
                <a:spcPts val="245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AI Setup</a:t>
            </a:r>
            <a:endParaRPr lang="en-US" sz="1950" dirty="0"/>
          </a:p>
        </p:txBody>
      </p:sp>
      <p:sp>
        <p:nvSpPr>
          <p:cNvPr id="9" name="Text 6"/>
          <p:cNvSpPr/>
          <p:nvPr/>
        </p:nvSpPr>
        <p:spPr>
          <a:xfrm>
            <a:off x="1953458" y="2297073"/>
            <a:ext cx="6480215" cy="615315"/>
          </a:xfrm>
          <a:prstGeom prst="rect">
            <a:avLst/>
          </a:prstGeom>
          <a:noFill/>
          <a:ln/>
        </p:spPr>
        <p:txBody>
          <a:bodyPr wrap="square" lIns="0" tIns="0" rIns="0" bIns="0" rtlCol="0" anchor="t"/>
          <a:lstStyle/>
          <a:p>
            <a:pPr algn="l" indent="0" marL="0">
              <a:lnSpc>
                <a:spcPts val="24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Configure Gemini API keys, validate connectivity, and design prompt templates for correction and task extraction</a:t>
            </a:r>
            <a:endParaRPr lang="en-US" sz="1550" dirty="0"/>
          </a:p>
        </p:txBody>
      </p:sp>
      <p:sp>
        <p:nvSpPr>
          <p:cNvPr id="10" name="Shape 7"/>
          <p:cNvSpPr/>
          <p:nvPr/>
        </p:nvSpPr>
        <p:spPr>
          <a:xfrm>
            <a:off x="1144012" y="3492341"/>
            <a:ext cx="608767" cy="22860"/>
          </a:xfrm>
          <a:prstGeom prst="roundRect">
            <a:avLst>
              <a:gd name="adj" fmla="val 372894"/>
            </a:avLst>
          </a:prstGeom>
          <a:solidFill>
            <a:srgbClr val="56565B"/>
          </a:solidFill>
          <a:ln/>
        </p:spPr>
      </p:sp>
      <p:sp>
        <p:nvSpPr>
          <p:cNvPr id="11" name="Shape 8"/>
          <p:cNvSpPr/>
          <p:nvPr/>
        </p:nvSpPr>
        <p:spPr>
          <a:xfrm>
            <a:off x="710267" y="3275528"/>
            <a:ext cx="456605" cy="456605"/>
          </a:xfrm>
          <a:prstGeom prst="roundRect">
            <a:avLst>
              <a:gd name="adj" fmla="val 18669"/>
            </a:avLst>
          </a:prstGeom>
          <a:solidFill>
            <a:srgbClr val="3D3D42"/>
          </a:solidFill>
          <a:ln w="7620">
            <a:solidFill>
              <a:srgbClr val="56565B"/>
            </a:solidFill>
            <a:prstDash val="solid"/>
          </a:ln>
        </p:spPr>
      </p:sp>
      <p:sp>
        <p:nvSpPr>
          <p:cNvPr id="12" name="Text 9"/>
          <p:cNvSpPr/>
          <p:nvPr/>
        </p:nvSpPr>
        <p:spPr>
          <a:xfrm>
            <a:off x="786348" y="3313509"/>
            <a:ext cx="304324" cy="380524"/>
          </a:xfrm>
          <a:prstGeom prst="rect">
            <a:avLst/>
          </a:prstGeom>
          <a:noFill/>
          <a:ln/>
        </p:spPr>
        <p:txBody>
          <a:bodyPr wrap="none" lIns="0" tIns="0" rIns="0" bIns="0" rtlCol="0" anchor="t"/>
          <a:lstStyle/>
          <a:p>
            <a:pPr algn="ctr" indent="0" marL="0">
              <a:lnSpc>
                <a:spcPts val="2350"/>
              </a:lnSpc>
              <a:buNone/>
            </a:pPr>
            <a:r>
              <a:rPr lang="en-US" sz="2350" dirty="0">
                <a:solidFill>
                  <a:srgbClr val="CFD0D8"/>
                </a:solidFill>
                <a:latin typeface="Instrument Sans Semi Bold" pitchFamily="34" charset="0"/>
                <a:ea typeface="Instrument Sans Semi Bold" pitchFamily="34" charset="-122"/>
                <a:cs typeface="Instrument Sans Semi Bold" pitchFamily="34" charset="-120"/>
              </a:rPr>
              <a:t>2</a:t>
            </a:r>
            <a:endParaRPr lang="en-US" sz="2350" dirty="0"/>
          </a:p>
        </p:txBody>
      </p:sp>
      <p:sp>
        <p:nvSpPr>
          <p:cNvPr id="13" name="Text 10"/>
          <p:cNvSpPr/>
          <p:nvPr/>
        </p:nvSpPr>
        <p:spPr>
          <a:xfrm>
            <a:off x="1953458" y="3345180"/>
            <a:ext cx="2536984" cy="317063"/>
          </a:xfrm>
          <a:prstGeom prst="rect">
            <a:avLst/>
          </a:prstGeom>
          <a:noFill/>
          <a:ln/>
        </p:spPr>
        <p:txBody>
          <a:bodyPr wrap="none" lIns="0" tIns="0" rIns="0" bIns="0" rtlCol="0" anchor="t"/>
          <a:lstStyle/>
          <a:p>
            <a:pPr algn="l" indent="0" marL="0">
              <a:lnSpc>
                <a:spcPts val="245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Core Development</a:t>
            </a:r>
            <a:endParaRPr lang="en-US" sz="1950" dirty="0"/>
          </a:p>
        </p:txBody>
      </p:sp>
      <p:sp>
        <p:nvSpPr>
          <p:cNvPr id="14" name="Text 11"/>
          <p:cNvSpPr/>
          <p:nvPr/>
        </p:nvSpPr>
        <p:spPr>
          <a:xfrm>
            <a:off x="1953458" y="3771186"/>
            <a:ext cx="6480215" cy="615315"/>
          </a:xfrm>
          <a:prstGeom prst="rect">
            <a:avLst/>
          </a:prstGeom>
          <a:noFill/>
          <a:ln/>
        </p:spPr>
        <p:txBody>
          <a:bodyPr wrap="square" lIns="0" tIns="0" rIns="0" bIns="0" rtlCol="0" anchor="t"/>
          <a:lstStyle/>
          <a:p>
            <a:pPr algn="l" indent="0" marL="0">
              <a:lnSpc>
                <a:spcPts val="24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Build Streamlit structure, implement image processing with OpenCV, and integrate OCR text extraction</a:t>
            </a:r>
            <a:endParaRPr lang="en-US" sz="1550" dirty="0"/>
          </a:p>
        </p:txBody>
      </p:sp>
      <p:sp>
        <p:nvSpPr>
          <p:cNvPr id="15" name="Shape 12"/>
          <p:cNvSpPr/>
          <p:nvPr/>
        </p:nvSpPr>
        <p:spPr>
          <a:xfrm>
            <a:off x="1144012" y="4966454"/>
            <a:ext cx="608767" cy="22860"/>
          </a:xfrm>
          <a:prstGeom prst="roundRect">
            <a:avLst>
              <a:gd name="adj" fmla="val 372894"/>
            </a:avLst>
          </a:prstGeom>
          <a:solidFill>
            <a:srgbClr val="56565B"/>
          </a:solidFill>
          <a:ln/>
        </p:spPr>
      </p:sp>
      <p:sp>
        <p:nvSpPr>
          <p:cNvPr id="16" name="Shape 13"/>
          <p:cNvSpPr/>
          <p:nvPr/>
        </p:nvSpPr>
        <p:spPr>
          <a:xfrm>
            <a:off x="710267" y="4749641"/>
            <a:ext cx="456605" cy="456605"/>
          </a:xfrm>
          <a:prstGeom prst="roundRect">
            <a:avLst>
              <a:gd name="adj" fmla="val 18669"/>
            </a:avLst>
          </a:prstGeom>
          <a:solidFill>
            <a:srgbClr val="3D3D42"/>
          </a:solidFill>
          <a:ln w="7620">
            <a:solidFill>
              <a:srgbClr val="56565B"/>
            </a:solidFill>
            <a:prstDash val="solid"/>
          </a:ln>
        </p:spPr>
      </p:sp>
      <p:sp>
        <p:nvSpPr>
          <p:cNvPr id="17" name="Text 14"/>
          <p:cNvSpPr/>
          <p:nvPr/>
        </p:nvSpPr>
        <p:spPr>
          <a:xfrm>
            <a:off x="786348" y="4787622"/>
            <a:ext cx="304324" cy="380524"/>
          </a:xfrm>
          <a:prstGeom prst="rect">
            <a:avLst/>
          </a:prstGeom>
          <a:noFill/>
          <a:ln/>
        </p:spPr>
        <p:txBody>
          <a:bodyPr wrap="none" lIns="0" tIns="0" rIns="0" bIns="0" rtlCol="0" anchor="t"/>
          <a:lstStyle/>
          <a:p>
            <a:pPr algn="ctr" indent="0" marL="0">
              <a:lnSpc>
                <a:spcPts val="2350"/>
              </a:lnSpc>
              <a:buNone/>
            </a:pPr>
            <a:r>
              <a:rPr lang="en-US" sz="2350" dirty="0">
                <a:solidFill>
                  <a:srgbClr val="CFD0D8"/>
                </a:solidFill>
                <a:latin typeface="Instrument Sans Semi Bold" pitchFamily="34" charset="0"/>
                <a:ea typeface="Instrument Sans Semi Bold" pitchFamily="34" charset="-122"/>
                <a:cs typeface="Instrument Sans Semi Bold" pitchFamily="34" charset="-120"/>
              </a:rPr>
              <a:t>3</a:t>
            </a:r>
            <a:endParaRPr lang="en-US" sz="2350" dirty="0"/>
          </a:p>
        </p:txBody>
      </p:sp>
      <p:sp>
        <p:nvSpPr>
          <p:cNvPr id="18" name="Text 15"/>
          <p:cNvSpPr/>
          <p:nvPr/>
        </p:nvSpPr>
        <p:spPr>
          <a:xfrm>
            <a:off x="1953458" y="4819293"/>
            <a:ext cx="2536984" cy="317063"/>
          </a:xfrm>
          <a:prstGeom prst="rect">
            <a:avLst/>
          </a:prstGeom>
          <a:noFill/>
          <a:ln/>
        </p:spPr>
        <p:txBody>
          <a:bodyPr wrap="none" lIns="0" tIns="0" rIns="0" bIns="0" rtlCol="0" anchor="t"/>
          <a:lstStyle/>
          <a:p>
            <a:pPr algn="l" indent="0" marL="0">
              <a:lnSpc>
                <a:spcPts val="245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UI Design</a:t>
            </a:r>
            <a:endParaRPr lang="en-US" sz="1950" dirty="0"/>
          </a:p>
        </p:txBody>
      </p:sp>
      <p:sp>
        <p:nvSpPr>
          <p:cNvPr id="19" name="Text 16"/>
          <p:cNvSpPr/>
          <p:nvPr/>
        </p:nvSpPr>
        <p:spPr>
          <a:xfrm>
            <a:off x="1953458" y="5245298"/>
            <a:ext cx="6480215" cy="615315"/>
          </a:xfrm>
          <a:prstGeom prst="rect">
            <a:avLst/>
          </a:prstGeom>
          <a:noFill/>
          <a:ln/>
        </p:spPr>
        <p:txBody>
          <a:bodyPr wrap="square" lIns="0" tIns="0" rIns="0" bIns="0" rtlCol="0" anchor="t"/>
          <a:lstStyle/>
          <a:p>
            <a:pPr algn="l" indent="0" marL="0">
              <a:lnSpc>
                <a:spcPts val="24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Create interactive components, display structured results, and add export functionality</a:t>
            </a:r>
            <a:endParaRPr lang="en-US" sz="1550" dirty="0"/>
          </a:p>
        </p:txBody>
      </p:sp>
      <p:sp>
        <p:nvSpPr>
          <p:cNvPr id="20" name="Shape 17"/>
          <p:cNvSpPr/>
          <p:nvPr/>
        </p:nvSpPr>
        <p:spPr>
          <a:xfrm>
            <a:off x="1144012" y="6440567"/>
            <a:ext cx="608767" cy="22860"/>
          </a:xfrm>
          <a:prstGeom prst="roundRect">
            <a:avLst>
              <a:gd name="adj" fmla="val 372894"/>
            </a:avLst>
          </a:prstGeom>
          <a:solidFill>
            <a:srgbClr val="56565B"/>
          </a:solidFill>
          <a:ln/>
        </p:spPr>
      </p:sp>
      <p:sp>
        <p:nvSpPr>
          <p:cNvPr id="21" name="Shape 18"/>
          <p:cNvSpPr/>
          <p:nvPr/>
        </p:nvSpPr>
        <p:spPr>
          <a:xfrm>
            <a:off x="710267" y="6223754"/>
            <a:ext cx="456605" cy="456605"/>
          </a:xfrm>
          <a:prstGeom prst="roundRect">
            <a:avLst>
              <a:gd name="adj" fmla="val 18669"/>
            </a:avLst>
          </a:prstGeom>
          <a:solidFill>
            <a:srgbClr val="3D3D42"/>
          </a:solidFill>
          <a:ln w="7620">
            <a:solidFill>
              <a:srgbClr val="56565B"/>
            </a:solidFill>
            <a:prstDash val="solid"/>
          </a:ln>
        </p:spPr>
      </p:sp>
      <p:sp>
        <p:nvSpPr>
          <p:cNvPr id="22" name="Text 19"/>
          <p:cNvSpPr/>
          <p:nvPr/>
        </p:nvSpPr>
        <p:spPr>
          <a:xfrm>
            <a:off x="786348" y="6261735"/>
            <a:ext cx="304324" cy="380524"/>
          </a:xfrm>
          <a:prstGeom prst="rect">
            <a:avLst/>
          </a:prstGeom>
          <a:noFill/>
          <a:ln/>
        </p:spPr>
        <p:txBody>
          <a:bodyPr wrap="none" lIns="0" tIns="0" rIns="0" bIns="0" rtlCol="0" anchor="t"/>
          <a:lstStyle/>
          <a:p>
            <a:pPr algn="ctr" indent="0" marL="0">
              <a:lnSpc>
                <a:spcPts val="2350"/>
              </a:lnSpc>
              <a:buNone/>
            </a:pPr>
            <a:r>
              <a:rPr lang="en-US" sz="2350" dirty="0">
                <a:solidFill>
                  <a:srgbClr val="CFD0D8"/>
                </a:solidFill>
                <a:latin typeface="Instrument Sans Semi Bold" pitchFamily="34" charset="0"/>
                <a:ea typeface="Instrument Sans Semi Bold" pitchFamily="34" charset="-122"/>
                <a:cs typeface="Instrument Sans Semi Bold" pitchFamily="34" charset="-120"/>
              </a:rPr>
              <a:t>4</a:t>
            </a:r>
            <a:endParaRPr lang="en-US" sz="2350" dirty="0"/>
          </a:p>
        </p:txBody>
      </p:sp>
      <p:sp>
        <p:nvSpPr>
          <p:cNvPr id="23" name="Text 20"/>
          <p:cNvSpPr/>
          <p:nvPr/>
        </p:nvSpPr>
        <p:spPr>
          <a:xfrm>
            <a:off x="1953458" y="6293406"/>
            <a:ext cx="2536984" cy="317063"/>
          </a:xfrm>
          <a:prstGeom prst="rect">
            <a:avLst/>
          </a:prstGeom>
          <a:noFill/>
          <a:ln/>
        </p:spPr>
        <p:txBody>
          <a:bodyPr wrap="none" lIns="0" tIns="0" rIns="0" bIns="0" rtlCol="0" anchor="t"/>
          <a:lstStyle/>
          <a:p>
            <a:pPr algn="l" indent="0" marL="0">
              <a:lnSpc>
                <a:spcPts val="245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Testing</a:t>
            </a:r>
            <a:endParaRPr lang="en-US" sz="1950" dirty="0"/>
          </a:p>
        </p:txBody>
      </p:sp>
      <p:sp>
        <p:nvSpPr>
          <p:cNvPr id="24" name="Text 21"/>
          <p:cNvSpPr/>
          <p:nvPr/>
        </p:nvSpPr>
        <p:spPr>
          <a:xfrm>
            <a:off x="1953458" y="6719411"/>
            <a:ext cx="6480215" cy="615315"/>
          </a:xfrm>
          <a:prstGeom prst="rect">
            <a:avLst/>
          </a:prstGeom>
          <a:noFill/>
          <a:ln/>
        </p:spPr>
        <p:txBody>
          <a:bodyPr wrap="square" lIns="0" tIns="0" rIns="0" bIns="0" rtlCol="0" anchor="t"/>
          <a:lstStyle/>
          <a:p>
            <a:pPr algn="l" indent="0" marL="0">
              <a:lnSpc>
                <a:spcPts val="24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Validate accuracy across handwriting qualities, optimise performance, and handle edge cases gracefully</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474589"/>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Testing Results</a:t>
            </a:r>
            <a:endParaRPr lang="en-US" sz="4450" dirty="0"/>
          </a:p>
        </p:txBody>
      </p:sp>
      <p:sp>
        <p:nvSpPr>
          <p:cNvPr id="3" name="Shape 1"/>
          <p:cNvSpPr/>
          <p:nvPr/>
        </p:nvSpPr>
        <p:spPr>
          <a:xfrm>
            <a:off x="793790" y="2636996"/>
            <a:ext cx="4196358" cy="3137059"/>
          </a:xfrm>
          <a:prstGeom prst="roundRect">
            <a:avLst>
              <a:gd name="adj" fmla="val 3037"/>
            </a:avLst>
          </a:prstGeom>
          <a:solidFill>
            <a:srgbClr val="2A2A2D">
              <a:alpha val="95000"/>
            </a:srgbClr>
          </a:solidFill>
          <a:ln w="30480">
            <a:solidFill>
              <a:srgbClr val="56565B"/>
            </a:solidFill>
            <a:prstDash val="solid"/>
          </a:ln>
        </p:spPr>
      </p:sp>
      <p:sp>
        <p:nvSpPr>
          <p:cNvPr id="4" name="Shape 2"/>
          <p:cNvSpPr/>
          <p:nvPr/>
        </p:nvSpPr>
        <p:spPr>
          <a:xfrm>
            <a:off x="824270" y="2667476"/>
            <a:ext cx="4135398" cy="680442"/>
          </a:xfrm>
          <a:prstGeom prst="roundRect">
            <a:avLst>
              <a:gd name="adj" fmla="val 8626"/>
            </a:avLst>
          </a:prstGeom>
          <a:solidFill>
            <a:srgbClr val="3D3D42"/>
          </a:solidFill>
          <a:ln/>
        </p:spPr>
      </p:sp>
      <p:sp>
        <p:nvSpPr>
          <p:cNvPr id="5" name="Text 3"/>
          <p:cNvSpPr/>
          <p:nvPr/>
        </p:nvSpPr>
        <p:spPr>
          <a:xfrm>
            <a:off x="2721888" y="2791182"/>
            <a:ext cx="340162" cy="425291"/>
          </a:xfrm>
          <a:prstGeom prst="rect">
            <a:avLst/>
          </a:prstGeom>
          <a:noFill/>
          <a:ln/>
        </p:spPr>
        <p:txBody>
          <a:bodyPr wrap="none" lIns="0" tIns="0" rIns="0" bIns="0" rtlCol="0" anchor="t"/>
          <a:lstStyle/>
          <a:p>
            <a:pPr algn="l" indent="0" marL="0">
              <a:lnSpc>
                <a:spcPts val="2650"/>
              </a:lnSpc>
              <a:buNone/>
            </a:pPr>
            <a:r>
              <a:rPr lang="en-US" sz="2650" dirty="0">
                <a:solidFill>
                  <a:srgbClr val="CFD0D8"/>
                </a:solidFill>
                <a:latin typeface="Instrument Sans Semi Bold" pitchFamily="34" charset="0"/>
                <a:ea typeface="Instrument Sans Semi Bold" pitchFamily="34" charset="-122"/>
                <a:cs typeface="Instrument Sans Semi Bold" pitchFamily="34" charset="-120"/>
              </a:rPr>
              <a:t>1</a:t>
            </a:r>
            <a:endParaRPr lang="en-US" sz="2650" dirty="0"/>
          </a:p>
        </p:txBody>
      </p:sp>
      <p:sp>
        <p:nvSpPr>
          <p:cNvPr id="6" name="Text 4"/>
          <p:cNvSpPr/>
          <p:nvPr/>
        </p:nvSpPr>
        <p:spPr>
          <a:xfrm>
            <a:off x="1051084" y="357473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Clear Handwriting</a:t>
            </a:r>
            <a:endParaRPr lang="en-US" sz="2200" dirty="0"/>
          </a:p>
        </p:txBody>
      </p:sp>
      <p:sp>
        <p:nvSpPr>
          <p:cNvPr id="7" name="Text 5"/>
          <p:cNvSpPr/>
          <p:nvPr/>
        </p:nvSpPr>
        <p:spPr>
          <a:xfrm>
            <a:off x="1051084" y="4065151"/>
            <a:ext cx="3681770"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Accurate OCR extraction with proper grammar correction. Tasks correctly identified and formatted into to-do lists.</a:t>
            </a:r>
            <a:endParaRPr lang="en-US" sz="1750" dirty="0"/>
          </a:p>
        </p:txBody>
      </p:sp>
      <p:sp>
        <p:nvSpPr>
          <p:cNvPr id="8" name="Shape 6"/>
          <p:cNvSpPr/>
          <p:nvPr/>
        </p:nvSpPr>
        <p:spPr>
          <a:xfrm>
            <a:off x="5216962" y="2636996"/>
            <a:ext cx="4196358" cy="3137059"/>
          </a:xfrm>
          <a:prstGeom prst="roundRect">
            <a:avLst>
              <a:gd name="adj" fmla="val 3037"/>
            </a:avLst>
          </a:prstGeom>
          <a:solidFill>
            <a:srgbClr val="2A2A2D">
              <a:alpha val="95000"/>
            </a:srgbClr>
          </a:solidFill>
          <a:ln w="30480">
            <a:solidFill>
              <a:srgbClr val="56565B"/>
            </a:solidFill>
            <a:prstDash val="solid"/>
          </a:ln>
        </p:spPr>
      </p:sp>
      <p:sp>
        <p:nvSpPr>
          <p:cNvPr id="9" name="Shape 7"/>
          <p:cNvSpPr/>
          <p:nvPr/>
        </p:nvSpPr>
        <p:spPr>
          <a:xfrm>
            <a:off x="5247442" y="2667476"/>
            <a:ext cx="4135398" cy="680442"/>
          </a:xfrm>
          <a:prstGeom prst="roundRect">
            <a:avLst>
              <a:gd name="adj" fmla="val 8626"/>
            </a:avLst>
          </a:prstGeom>
          <a:solidFill>
            <a:srgbClr val="3D3D42"/>
          </a:solidFill>
          <a:ln/>
        </p:spPr>
      </p:sp>
      <p:sp>
        <p:nvSpPr>
          <p:cNvPr id="10" name="Text 8"/>
          <p:cNvSpPr/>
          <p:nvPr/>
        </p:nvSpPr>
        <p:spPr>
          <a:xfrm>
            <a:off x="7145060" y="2791182"/>
            <a:ext cx="340162" cy="425291"/>
          </a:xfrm>
          <a:prstGeom prst="rect">
            <a:avLst/>
          </a:prstGeom>
          <a:noFill/>
          <a:ln/>
        </p:spPr>
        <p:txBody>
          <a:bodyPr wrap="none" lIns="0" tIns="0" rIns="0" bIns="0" rtlCol="0" anchor="t"/>
          <a:lstStyle/>
          <a:p>
            <a:pPr algn="l" indent="0" marL="0">
              <a:lnSpc>
                <a:spcPts val="2650"/>
              </a:lnSpc>
              <a:buNone/>
            </a:pPr>
            <a:r>
              <a:rPr lang="en-US" sz="2650" dirty="0">
                <a:solidFill>
                  <a:srgbClr val="CFD0D8"/>
                </a:solidFill>
                <a:latin typeface="Instrument Sans Semi Bold" pitchFamily="34" charset="0"/>
                <a:ea typeface="Instrument Sans Semi Bold" pitchFamily="34" charset="-122"/>
                <a:cs typeface="Instrument Sans Semi Bold" pitchFamily="34" charset="-120"/>
              </a:rPr>
              <a:t>2</a:t>
            </a:r>
            <a:endParaRPr lang="en-US" sz="2650" dirty="0"/>
          </a:p>
        </p:txBody>
      </p:sp>
      <p:sp>
        <p:nvSpPr>
          <p:cNvPr id="11" name="Text 9"/>
          <p:cNvSpPr/>
          <p:nvPr/>
        </p:nvSpPr>
        <p:spPr>
          <a:xfrm>
            <a:off x="5474256" y="357473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Medium Quality</a:t>
            </a:r>
            <a:endParaRPr lang="en-US" sz="2200" dirty="0"/>
          </a:p>
        </p:txBody>
      </p:sp>
      <p:sp>
        <p:nvSpPr>
          <p:cNvPr id="12" name="Text 10"/>
          <p:cNvSpPr/>
          <p:nvPr/>
        </p:nvSpPr>
        <p:spPr>
          <a:xfrm>
            <a:off x="5474256" y="4065151"/>
            <a:ext cx="3681770"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OCR extracts readable text with AI contextual correction improving clarity. Most tasks properly separated.</a:t>
            </a:r>
            <a:endParaRPr lang="en-US" sz="1750" dirty="0"/>
          </a:p>
        </p:txBody>
      </p:sp>
      <p:sp>
        <p:nvSpPr>
          <p:cNvPr id="13" name="Shape 11"/>
          <p:cNvSpPr/>
          <p:nvPr/>
        </p:nvSpPr>
        <p:spPr>
          <a:xfrm>
            <a:off x="9640133" y="2636996"/>
            <a:ext cx="4196358" cy="3137059"/>
          </a:xfrm>
          <a:prstGeom prst="roundRect">
            <a:avLst>
              <a:gd name="adj" fmla="val 3037"/>
            </a:avLst>
          </a:prstGeom>
          <a:solidFill>
            <a:srgbClr val="2A2A2D">
              <a:alpha val="95000"/>
            </a:srgbClr>
          </a:solidFill>
          <a:ln w="30480">
            <a:solidFill>
              <a:srgbClr val="56565B"/>
            </a:solidFill>
            <a:prstDash val="solid"/>
          </a:ln>
        </p:spPr>
      </p:sp>
      <p:sp>
        <p:nvSpPr>
          <p:cNvPr id="14" name="Shape 12"/>
          <p:cNvSpPr/>
          <p:nvPr/>
        </p:nvSpPr>
        <p:spPr>
          <a:xfrm>
            <a:off x="9670613" y="2667476"/>
            <a:ext cx="4135398" cy="680442"/>
          </a:xfrm>
          <a:prstGeom prst="roundRect">
            <a:avLst>
              <a:gd name="adj" fmla="val 8626"/>
            </a:avLst>
          </a:prstGeom>
          <a:solidFill>
            <a:srgbClr val="3D3D42"/>
          </a:solidFill>
          <a:ln/>
        </p:spPr>
      </p:sp>
      <p:sp>
        <p:nvSpPr>
          <p:cNvPr id="15" name="Text 13"/>
          <p:cNvSpPr/>
          <p:nvPr/>
        </p:nvSpPr>
        <p:spPr>
          <a:xfrm>
            <a:off x="11568232" y="2791182"/>
            <a:ext cx="340162" cy="425291"/>
          </a:xfrm>
          <a:prstGeom prst="rect">
            <a:avLst/>
          </a:prstGeom>
          <a:noFill/>
          <a:ln/>
        </p:spPr>
        <p:txBody>
          <a:bodyPr wrap="none" lIns="0" tIns="0" rIns="0" bIns="0" rtlCol="0" anchor="t"/>
          <a:lstStyle/>
          <a:p>
            <a:pPr algn="l" indent="0" marL="0">
              <a:lnSpc>
                <a:spcPts val="2650"/>
              </a:lnSpc>
              <a:buNone/>
            </a:pPr>
            <a:r>
              <a:rPr lang="en-US" sz="2650" dirty="0">
                <a:solidFill>
                  <a:srgbClr val="CFD0D8"/>
                </a:solidFill>
                <a:latin typeface="Instrument Sans Semi Bold" pitchFamily="34" charset="0"/>
                <a:ea typeface="Instrument Sans Semi Bold" pitchFamily="34" charset="-122"/>
                <a:cs typeface="Instrument Sans Semi Bold" pitchFamily="34" charset="-120"/>
              </a:rPr>
              <a:t>3</a:t>
            </a:r>
            <a:endParaRPr lang="en-US" sz="2650" dirty="0"/>
          </a:p>
        </p:txBody>
      </p:sp>
      <p:sp>
        <p:nvSpPr>
          <p:cNvPr id="16" name="Text 14"/>
          <p:cNvSpPr/>
          <p:nvPr/>
        </p:nvSpPr>
        <p:spPr>
          <a:xfrm>
            <a:off x="9897427" y="357473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Poor Quality</a:t>
            </a:r>
            <a:endParaRPr lang="en-US" sz="2200" dirty="0"/>
          </a:p>
        </p:txBody>
      </p:sp>
      <p:sp>
        <p:nvSpPr>
          <p:cNvPr id="17" name="Text 15"/>
          <p:cNvSpPr/>
          <p:nvPr/>
        </p:nvSpPr>
        <p:spPr>
          <a:xfrm>
            <a:off x="9897427" y="4065151"/>
            <a:ext cx="3681770"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Image enhancement improves visibility. AI generates partially corrected readable text with partial extraction.</a:t>
            </a:r>
            <a:endParaRPr lang="en-US" sz="1750" dirty="0"/>
          </a:p>
        </p:txBody>
      </p:sp>
      <p:sp>
        <p:nvSpPr>
          <p:cNvPr id="18" name="Text 16"/>
          <p:cNvSpPr/>
          <p:nvPr/>
        </p:nvSpPr>
        <p:spPr>
          <a:xfrm>
            <a:off x="793790" y="6029206"/>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The system handles various handwriting qualities effectively, with image enhancement and contextual AI logic compensating for lower input quality.</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6395" y="757118"/>
            <a:ext cx="4903351" cy="612815"/>
          </a:xfrm>
          <a:prstGeom prst="rect">
            <a:avLst/>
          </a:prstGeom>
          <a:noFill/>
          <a:ln/>
        </p:spPr>
        <p:txBody>
          <a:bodyPr wrap="none" lIns="0" tIns="0" rIns="0" bIns="0" rtlCol="0" anchor="t"/>
          <a:lstStyle/>
          <a:p>
            <a:pPr algn="l" indent="0" marL="0">
              <a:lnSpc>
                <a:spcPts val="4800"/>
              </a:lnSpc>
              <a:buNone/>
            </a:pPr>
            <a:r>
              <a:rPr lang="en-US" sz="3850" dirty="0">
                <a:solidFill>
                  <a:srgbClr val="CBCCCE"/>
                </a:solidFill>
                <a:latin typeface="Instrument Sans Semi Bold" pitchFamily="34" charset="0"/>
                <a:ea typeface="Instrument Sans Semi Bold" pitchFamily="34" charset="-122"/>
                <a:cs typeface="Instrument Sans Semi Bold" pitchFamily="34" charset="-120"/>
              </a:rPr>
              <a:t>Technology Stack</a:t>
            </a:r>
            <a:endParaRPr lang="en-US" sz="38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86395" y="1709023"/>
            <a:ext cx="490299" cy="490299"/>
          </a:xfrm>
          <a:prstGeom prst="rect">
            <a:avLst/>
          </a:prstGeom>
        </p:spPr>
      </p:pic>
      <p:sp>
        <p:nvSpPr>
          <p:cNvPr id="4" name="Text 1"/>
          <p:cNvSpPr/>
          <p:nvPr/>
        </p:nvSpPr>
        <p:spPr>
          <a:xfrm>
            <a:off x="686395" y="2411254"/>
            <a:ext cx="2451616" cy="306348"/>
          </a:xfrm>
          <a:prstGeom prst="rect">
            <a:avLst/>
          </a:prstGeom>
          <a:noFill/>
          <a:ln/>
        </p:spPr>
        <p:txBody>
          <a:bodyPr wrap="none" lIns="0" tIns="0" rIns="0" bIns="0" rtlCol="0" anchor="t"/>
          <a:lstStyle/>
          <a:p>
            <a:pPr algn="l" indent="0" marL="0">
              <a:lnSpc>
                <a:spcPts val="2400"/>
              </a:lnSpc>
              <a:buNone/>
            </a:pPr>
            <a:r>
              <a:rPr lang="en-US" sz="1900" dirty="0">
                <a:solidFill>
                  <a:srgbClr val="CFD0D8"/>
                </a:solidFill>
                <a:latin typeface="Instrument Sans Semi Bold" pitchFamily="34" charset="0"/>
                <a:ea typeface="Instrument Sans Semi Bold" pitchFamily="34" charset="-122"/>
                <a:cs typeface="Instrument Sans Semi Bold" pitchFamily="34" charset="-120"/>
              </a:rPr>
              <a:t>Streamlit</a:t>
            </a:r>
            <a:endParaRPr lang="en-US" sz="1900" dirty="0"/>
          </a:p>
        </p:txBody>
      </p:sp>
      <p:sp>
        <p:nvSpPr>
          <p:cNvPr id="5" name="Text 2"/>
          <p:cNvSpPr/>
          <p:nvPr/>
        </p:nvSpPr>
        <p:spPr>
          <a:xfrm>
            <a:off x="686395" y="2819281"/>
            <a:ext cx="6522839" cy="584835"/>
          </a:xfrm>
          <a:prstGeom prst="rect">
            <a:avLst/>
          </a:prstGeom>
          <a:noFill/>
          <a:ln/>
        </p:spPr>
        <p:txBody>
          <a:bodyPr wrap="square" lIns="0" tIns="0" rIns="0" bIns="0" rtlCol="0" anchor="t"/>
          <a:lstStyle/>
          <a:p>
            <a:pPr algn="l" indent="0" marL="0">
              <a:lnSpc>
                <a:spcPts val="2300"/>
              </a:lnSpc>
              <a:buNone/>
            </a:pPr>
            <a:r>
              <a:rPr lang="en-US" sz="1500" dirty="0">
                <a:solidFill>
                  <a:srgbClr val="CFD0D8"/>
                </a:solidFill>
                <a:latin typeface="Instrument Sans Medium" pitchFamily="34" charset="0"/>
                <a:ea typeface="Instrument Sans Medium" pitchFamily="34" charset="-122"/>
                <a:cs typeface="Instrument Sans Medium" pitchFamily="34" charset="-120"/>
              </a:rPr>
              <a:t>Interactive web application framework for UI, file uploads, and dynamic result display with modular architecture</a:t>
            </a:r>
            <a:endParaRPr lang="en-US" sz="15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21166" y="1709023"/>
            <a:ext cx="490299" cy="490299"/>
          </a:xfrm>
          <a:prstGeom prst="rect">
            <a:avLst/>
          </a:prstGeom>
        </p:spPr>
      </p:pic>
      <p:sp>
        <p:nvSpPr>
          <p:cNvPr id="7" name="Text 3"/>
          <p:cNvSpPr/>
          <p:nvPr/>
        </p:nvSpPr>
        <p:spPr>
          <a:xfrm>
            <a:off x="7421166" y="2411254"/>
            <a:ext cx="2451616" cy="306348"/>
          </a:xfrm>
          <a:prstGeom prst="rect">
            <a:avLst/>
          </a:prstGeom>
          <a:noFill/>
          <a:ln/>
        </p:spPr>
        <p:txBody>
          <a:bodyPr wrap="none" lIns="0" tIns="0" rIns="0" bIns="0" rtlCol="0" anchor="t"/>
          <a:lstStyle/>
          <a:p>
            <a:pPr algn="l" indent="0" marL="0">
              <a:lnSpc>
                <a:spcPts val="2400"/>
              </a:lnSpc>
              <a:buNone/>
            </a:pPr>
            <a:r>
              <a:rPr lang="en-US" sz="1900" dirty="0">
                <a:solidFill>
                  <a:srgbClr val="CFD0D8"/>
                </a:solidFill>
                <a:latin typeface="Instrument Sans Semi Bold" pitchFamily="34" charset="0"/>
                <a:ea typeface="Instrument Sans Semi Bold" pitchFamily="34" charset="-122"/>
                <a:cs typeface="Instrument Sans Semi Bold" pitchFamily="34" charset="-120"/>
              </a:rPr>
              <a:t>Gemini 2.5 Flash</a:t>
            </a:r>
            <a:endParaRPr lang="en-US" sz="1900" dirty="0"/>
          </a:p>
        </p:txBody>
      </p:sp>
      <p:sp>
        <p:nvSpPr>
          <p:cNvPr id="8" name="Text 4"/>
          <p:cNvSpPr/>
          <p:nvPr/>
        </p:nvSpPr>
        <p:spPr>
          <a:xfrm>
            <a:off x="7421166" y="2819281"/>
            <a:ext cx="6522839" cy="584835"/>
          </a:xfrm>
          <a:prstGeom prst="rect">
            <a:avLst/>
          </a:prstGeom>
          <a:noFill/>
          <a:ln/>
        </p:spPr>
        <p:txBody>
          <a:bodyPr wrap="square" lIns="0" tIns="0" rIns="0" bIns="0" rtlCol="0" anchor="t"/>
          <a:lstStyle/>
          <a:p>
            <a:pPr algn="l" indent="0" marL="0">
              <a:lnSpc>
                <a:spcPts val="2300"/>
              </a:lnSpc>
              <a:buNone/>
            </a:pPr>
            <a:r>
              <a:rPr lang="en-US" sz="1500" dirty="0">
                <a:solidFill>
                  <a:srgbClr val="CFD0D8"/>
                </a:solidFill>
                <a:latin typeface="Instrument Sans Medium" pitchFamily="34" charset="0"/>
                <a:ea typeface="Instrument Sans Medium" pitchFamily="34" charset="-122"/>
                <a:cs typeface="Instrument Sans Medium" pitchFamily="34" charset="-120"/>
              </a:rPr>
              <a:t>Fast multimodal AI model for contextual understanding, grammar correction, and intelligent task extraction</a:t>
            </a:r>
            <a:endParaRPr lang="en-US" sz="15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6395" y="3743206"/>
            <a:ext cx="490299" cy="490299"/>
          </a:xfrm>
          <a:prstGeom prst="rect">
            <a:avLst/>
          </a:prstGeom>
        </p:spPr>
      </p:pic>
      <p:sp>
        <p:nvSpPr>
          <p:cNvPr id="10" name="Text 5"/>
          <p:cNvSpPr/>
          <p:nvPr/>
        </p:nvSpPr>
        <p:spPr>
          <a:xfrm>
            <a:off x="686395" y="4445437"/>
            <a:ext cx="2451616" cy="306348"/>
          </a:xfrm>
          <a:prstGeom prst="rect">
            <a:avLst/>
          </a:prstGeom>
          <a:noFill/>
          <a:ln/>
        </p:spPr>
        <p:txBody>
          <a:bodyPr wrap="none" lIns="0" tIns="0" rIns="0" bIns="0" rtlCol="0" anchor="t"/>
          <a:lstStyle/>
          <a:p>
            <a:pPr algn="l" indent="0" marL="0">
              <a:lnSpc>
                <a:spcPts val="2400"/>
              </a:lnSpc>
              <a:buNone/>
            </a:pPr>
            <a:r>
              <a:rPr lang="en-US" sz="1900" dirty="0">
                <a:solidFill>
                  <a:srgbClr val="CFD0D8"/>
                </a:solidFill>
                <a:latin typeface="Instrument Sans Semi Bold" pitchFamily="34" charset="0"/>
                <a:ea typeface="Instrument Sans Semi Bold" pitchFamily="34" charset="-122"/>
                <a:cs typeface="Instrument Sans Semi Bold" pitchFamily="34" charset="-120"/>
              </a:rPr>
              <a:t>OpenCV</a:t>
            </a:r>
            <a:endParaRPr lang="en-US" sz="1900" dirty="0"/>
          </a:p>
        </p:txBody>
      </p:sp>
      <p:sp>
        <p:nvSpPr>
          <p:cNvPr id="11" name="Text 6"/>
          <p:cNvSpPr/>
          <p:nvPr/>
        </p:nvSpPr>
        <p:spPr>
          <a:xfrm>
            <a:off x="686395" y="4853464"/>
            <a:ext cx="6522839" cy="584835"/>
          </a:xfrm>
          <a:prstGeom prst="rect">
            <a:avLst/>
          </a:prstGeom>
          <a:noFill/>
          <a:ln/>
        </p:spPr>
        <p:txBody>
          <a:bodyPr wrap="square" lIns="0" tIns="0" rIns="0" bIns="0" rtlCol="0" anchor="t"/>
          <a:lstStyle/>
          <a:p>
            <a:pPr algn="l" indent="0" marL="0">
              <a:lnSpc>
                <a:spcPts val="2300"/>
              </a:lnSpc>
              <a:buNone/>
            </a:pPr>
            <a:r>
              <a:rPr lang="en-US" sz="1500" dirty="0">
                <a:solidFill>
                  <a:srgbClr val="CFD0D8"/>
                </a:solidFill>
                <a:latin typeface="Instrument Sans Medium" pitchFamily="34" charset="0"/>
                <a:ea typeface="Instrument Sans Medium" pitchFamily="34" charset="-122"/>
                <a:cs typeface="Instrument Sans Medium" pitchFamily="34" charset="-120"/>
              </a:rPr>
              <a:t>Image preprocessing including grayscale conversion, noise removal, and adaptive thresholding techniques</a:t>
            </a:r>
            <a:endParaRPr lang="en-US" sz="15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21166" y="3743206"/>
            <a:ext cx="490299" cy="490299"/>
          </a:xfrm>
          <a:prstGeom prst="rect">
            <a:avLst/>
          </a:prstGeom>
        </p:spPr>
      </p:pic>
      <p:sp>
        <p:nvSpPr>
          <p:cNvPr id="13" name="Text 7"/>
          <p:cNvSpPr/>
          <p:nvPr/>
        </p:nvSpPr>
        <p:spPr>
          <a:xfrm>
            <a:off x="7421166" y="4445437"/>
            <a:ext cx="2451616" cy="306348"/>
          </a:xfrm>
          <a:prstGeom prst="rect">
            <a:avLst/>
          </a:prstGeom>
          <a:noFill/>
          <a:ln/>
        </p:spPr>
        <p:txBody>
          <a:bodyPr wrap="none" lIns="0" tIns="0" rIns="0" bIns="0" rtlCol="0" anchor="t"/>
          <a:lstStyle/>
          <a:p>
            <a:pPr algn="l" indent="0" marL="0">
              <a:lnSpc>
                <a:spcPts val="2400"/>
              </a:lnSpc>
              <a:buNone/>
            </a:pPr>
            <a:r>
              <a:rPr lang="en-US" sz="1900" dirty="0">
                <a:solidFill>
                  <a:srgbClr val="CFD0D8"/>
                </a:solidFill>
                <a:latin typeface="Instrument Sans Semi Bold" pitchFamily="34" charset="0"/>
                <a:ea typeface="Instrument Sans Semi Bold" pitchFamily="34" charset="-122"/>
                <a:cs typeface="Instrument Sans Semi Bold" pitchFamily="34" charset="-120"/>
              </a:rPr>
              <a:t>Tesseract/EasyOCR</a:t>
            </a:r>
            <a:endParaRPr lang="en-US" sz="1900" dirty="0"/>
          </a:p>
        </p:txBody>
      </p:sp>
      <p:sp>
        <p:nvSpPr>
          <p:cNvPr id="14" name="Text 8"/>
          <p:cNvSpPr/>
          <p:nvPr/>
        </p:nvSpPr>
        <p:spPr>
          <a:xfrm>
            <a:off x="7421166" y="4853464"/>
            <a:ext cx="6522839" cy="584835"/>
          </a:xfrm>
          <a:prstGeom prst="rect">
            <a:avLst/>
          </a:prstGeom>
          <a:noFill/>
          <a:ln/>
        </p:spPr>
        <p:txBody>
          <a:bodyPr wrap="square" lIns="0" tIns="0" rIns="0" bIns="0" rtlCol="0" anchor="t"/>
          <a:lstStyle/>
          <a:p>
            <a:pPr algn="l" indent="0" marL="0">
              <a:lnSpc>
                <a:spcPts val="2300"/>
              </a:lnSpc>
              <a:buNone/>
            </a:pPr>
            <a:r>
              <a:rPr lang="en-US" sz="1500" dirty="0">
                <a:solidFill>
                  <a:srgbClr val="CFD0D8"/>
                </a:solidFill>
                <a:latin typeface="Instrument Sans Medium" pitchFamily="34" charset="0"/>
                <a:ea typeface="Instrument Sans Medium" pitchFamily="34" charset="-122"/>
                <a:cs typeface="Instrument Sans Medium" pitchFamily="34" charset="-120"/>
              </a:rPr>
              <a:t>Handwriting recognition engines that convert enhanced images into machine-readable text</a:t>
            </a:r>
            <a:endParaRPr lang="en-US" sz="15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6395" y="5777389"/>
            <a:ext cx="490299" cy="490299"/>
          </a:xfrm>
          <a:prstGeom prst="rect">
            <a:avLst/>
          </a:prstGeom>
        </p:spPr>
      </p:pic>
      <p:sp>
        <p:nvSpPr>
          <p:cNvPr id="16" name="Text 9"/>
          <p:cNvSpPr/>
          <p:nvPr/>
        </p:nvSpPr>
        <p:spPr>
          <a:xfrm>
            <a:off x="686395" y="6479619"/>
            <a:ext cx="2451616" cy="306348"/>
          </a:xfrm>
          <a:prstGeom prst="rect">
            <a:avLst/>
          </a:prstGeom>
          <a:noFill/>
          <a:ln/>
        </p:spPr>
        <p:txBody>
          <a:bodyPr wrap="none" lIns="0" tIns="0" rIns="0" bIns="0" rtlCol="0" anchor="t"/>
          <a:lstStyle/>
          <a:p>
            <a:pPr algn="l" indent="0" marL="0">
              <a:lnSpc>
                <a:spcPts val="2400"/>
              </a:lnSpc>
              <a:buNone/>
            </a:pPr>
            <a:r>
              <a:rPr lang="en-US" sz="1900" dirty="0">
                <a:solidFill>
                  <a:srgbClr val="CFD0D8"/>
                </a:solidFill>
                <a:latin typeface="Instrument Sans Semi Bold" pitchFamily="34" charset="0"/>
                <a:ea typeface="Instrument Sans Semi Bold" pitchFamily="34" charset="-122"/>
                <a:cs typeface="Instrument Sans Semi Bold" pitchFamily="34" charset="-120"/>
              </a:rPr>
              <a:t>Python 3.8+</a:t>
            </a:r>
            <a:endParaRPr lang="en-US" sz="1900" dirty="0"/>
          </a:p>
        </p:txBody>
      </p:sp>
      <p:sp>
        <p:nvSpPr>
          <p:cNvPr id="17" name="Text 10"/>
          <p:cNvSpPr/>
          <p:nvPr/>
        </p:nvSpPr>
        <p:spPr>
          <a:xfrm>
            <a:off x="686395" y="6887647"/>
            <a:ext cx="6522839" cy="584835"/>
          </a:xfrm>
          <a:prstGeom prst="rect">
            <a:avLst/>
          </a:prstGeom>
          <a:noFill/>
          <a:ln/>
        </p:spPr>
        <p:txBody>
          <a:bodyPr wrap="square" lIns="0" tIns="0" rIns="0" bIns="0" rtlCol="0" anchor="t"/>
          <a:lstStyle/>
          <a:p>
            <a:pPr algn="l" indent="0" marL="0">
              <a:lnSpc>
                <a:spcPts val="2300"/>
              </a:lnSpc>
              <a:buNone/>
            </a:pPr>
            <a:r>
              <a:rPr lang="en-US" sz="1500" dirty="0">
                <a:solidFill>
                  <a:srgbClr val="CFD0D8"/>
                </a:solidFill>
                <a:latin typeface="Instrument Sans Medium" pitchFamily="34" charset="0"/>
                <a:ea typeface="Instrument Sans Medium" pitchFamily="34" charset="-122"/>
                <a:cs typeface="Instrument Sans Medium" pitchFamily="34" charset="-120"/>
              </a:rPr>
              <a:t>Core programming language with python-dotenv for environment management and configuration</a:t>
            </a:r>
            <a:endParaRPr lang="en-US" sz="150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21166" y="5777389"/>
            <a:ext cx="490299" cy="490299"/>
          </a:xfrm>
          <a:prstGeom prst="rect">
            <a:avLst/>
          </a:prstGeom>
        </p:spPr>
      </p:pic>
      <p:sp>
        <p:nvSpPr>
          <p:cNvPr id="19" name="Text 11"/>
          <p:cNvSpPr/>
          <p:nvPr/>
        </p:nvSpPr>
        <p:spPr>
          <a:xfrm>
            <a:off x="7421166" y="6479619"/>
            <a:ext cx="2451616" cy="306348"/>
          </a:xfrm>
          <a:prstGeom prst="rect">
            <a:avLst/>
          </a:prstGeom>
          <a:noFill/>
          <a:ln/>
        </p:spPr>
        <p:txBody>
          <a:bodyPr wrap="none" lIns="0" tIns="0" rIns="0" bIns="0" rtlCol="0" anchor="t"/>
          <a:lstStyle/>
          <a:p>
            <a:pPr algn="l" indent="0" marL="0">
              <a:lnSpc>
                <a:spcPts val="2400"/>
              </a:lnSpc>
              <a:buNone/>
            </a:pPr>
            <a:r>
              <a:rPr lang="en-US" sz="1900" dirty="0">
                <a:solidFill>
                  <a:srgbClr val="CFD0D8"/>
                </a:solidFill>
                <a:latin typeface="Instrument Sans Semi Bold" pitchFamily="34" charset="0"/>
                <a:ea typeface="Instrument Sans Semi Bold" pitchFamily="34" charset="-122"/>
                <a:cs typeface="Instrument Sans Semi Bold" pitchFamily="34" charset="-120"/>
              </a:rPr>
              <a:t>Export Modules</a:t>
            </a:r>
            <a:endParaRPr lang="en-US" sz="1900" dirty="0"/>
          </a:p>
        </p:txBody>
      </p:sp>
      <p:sp>
        <p:nvSpPr>
          <p:cNvPr id="20" name="Text 12"/>
          <p:cNvSpPr/>
          <p:nvPr/>
        </p:nvSpPr>
        <p:spPr>
          <a:xfrm>
            <a:off x="7421166" y="6887647"/>
            <a:ext cx="6522839" cy="584835"/>
          </a:xfrm>
          <a:prstGeom prst="rect">
            <a:avLst/>
          </a:prstGeom>
          <a:noFill/>
          <a:ln/>
        </p:spPr>
        <p:txBody>
          <a:bodyPr wrap="square" lIns="0" tIns="0" rIns="0" bIns="0" rtlCol="0" anchor="t"/>
          <a:lstStyle/>
          <a:p>
            <a:pPr algn="l" indent="0" marL="0">
              <a:lnSpc>
                <a:spcPts val="2300"/>
              </a:lnSpc>
              <a:buNone/>
            </a:pPr>
            <a:r>
              <a:rPr lang="en-US" sz="1500" dirty="0">
                <a:solidFill>
                  <a:srgbClr val="CFD0D8"/>
                </a:solidFill>
                <a:latin typeface="Instrument Sans Medium" pitchFamily="34" charset="0"/>
                <a:ea typeface="Instrument Sans Medium" pitchFamily="34" charset="-122"/>
                <a:cs typeface="Instrument Sans Medium" pitchFamily="34" charset="-120"/>
              </a:rPr>
              <a:t>ReportLab and python-docx for generating downloadable PDF and Word document formats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504474"/>
            <a:ext cx="6349008" cy="708779"/>
          </a:xfrm>
          <a:prstGeom prst="rect">
            <a:avLst/>
          </a:prstGeom>
          <a:noFill/>
          <a:ln/>
        </p:spPr>
        <p:txBody>
          <a:bodyPr wrap="none" lIns="0" tIns="0" rIns="0" bIns="0" rtlCol="0" anchor="t"/>
          <a:lstStyle/>
          <a:p>
            <a:pPr algn="l" indent="0" marL="0">
              <a:lnSpc>
                <a:spcPts val="5550"/>
              </a:lnSpc>
              <a:buNone/>
            </a:pPr>
            <a:r>
              <a:rPr lang="en-US" sz="4450" dirty="0">
                <a:solidFill>
                  <a:srgbClr val="CBCCCE"/>
                </a:solidFill>
                <a:latin typeface="Instrument Sans Semi Bold" pitchFamily="34" charset="0"/>
                <a:ea typeface="Instrument Sans Semi Bold" pitchFamily="34" charset="-122"/>
                <a:cs typeface="Instrument Sans Semi Bold" pitchFamily="34" charset="-120"/>
              </a:rPr>
              <a:t>Optimisation Highlights</a:t>
            </a:r>
            <a:endParaRPr lang="en-US" sz="4450" dirty="0"/>
          </a:p>
        </p:txBody>
      </p:sp>
      <p:sp>
        <p:nvSpPr>
          <p:cNvPr id="3" name="Shape 1"/>
          <p:cNvSpPr/>
          <p:nvPr/>
        </p:nvSpPr>
        <p:spPr>
          <a:xfrm>
            <a:off x="793790" y="2666881"/>
            <a:ext cx="4196358" cy="4058245"/>
          </a:xfrm>
          <a:prstGeom prst="roundRect">
            <a:avLst>
              <a:gd name="adj" fmla="val 3605"/>
            </a:avLst>
          </a:prstGeom>
          <a:solidFill>
            <a:srgbClr val="2A2A2D">
              <a:alpha val="95000"/>
            </a:srgbClr>
          </a:solidFill>
          <a:ln w="30480">
            <a:solidFill>
              <a:srgbClr val="56565B"/>
            </a:solidFill>
            <a:prstDash val="solid"/>
          </a:ln>
        </p:spPr>
      </p:sp>
      <p:pic>
        <p:nvPicPr>
          <p:cNvPr id="4" name="Image 0" descr="preencoded.png">    </p:cNvPr>
          <p:cNvPicPr>
            <a:picLocks noChangeAspect="1"/>
          </p:cNvPicPr>
          <p:nvPr/>
        </p:nvPicPr>
        <p:blipFill>
          <a:blip r:embed="rId1"/>
          <a:stretch>
            <a:fillRect/>
          </a:stretch>
        </p:blipFill>
        <p:spPr>
          <a:xfrm>
            <a:off x="763310" y="2666881"/>
            <a:ext cx="121920" cy="4058245"/>
          </a:xfrm>
          <a:prstGeom prst="rect">
            <a:avLst/>
          </a:prstGeom>
        </p:spPr>
      </p:pic>
      <p:sp>
        <p:nvSpPr>
          <p:cNvPr id="5" name="Text 2"/>
          <p:cNvSpPr/>
          <p:nvPr/>
        </p:nvSpPr>
        <p:spPr>
          <a:xfrm>
            <a:off x="1142524" y="2924175"/>
            <a:ext cx="3590330" cy="708660"/>
          </a:xfrm>
          <a:prstGeom prst="rect">
            <a:avLst/>
          </a:prstGeom>
          <a:noFill/>
          <a:ln/>
        </p:spPr>
        <p:txBody>
          <a:bodyPr wrap="squar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Performance Improvements</a:t>
            </a:r>
            <a:endParaRPr lang="en-US" sz="2200" dirty="0"/>
          </a:p>
        </p:txBody>
      </p:sp>
      <p:sp>
        <p:nvSpPr>
          <p:cNvPr id="6" name="Text 3"/>
          <p:cNvSpPr/>
          <p:nvPr/>
        </p:nvSpPr>
        <p:spPr>
          <a:xfrm>
            <a:off x="1142524" y="3768923"/>
            <a:ext cx="3590330" cy="269890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Optimised image preprocessing reduces processing time</a:t>
            </a:r>
            <a:endParaRPr lang="en-US" sz="1750" dirty="0"/>
          </a:p>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Improved prompt structure reduces API response length</a:t>
            </a:r>
            <a:endParaRPr lang="en-US" sz="1750" dirty="0"/>
          </a:p>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Input validation prevents invalid file processing</a:t>
            </a:r>
            <a:endParaRPr lang="en-US" sz="1750" dirty="0"/>
          </a:p>
        </p:txBody>
      </p:sp>
      <p:sp>
        <p:nvSpPr>
          <p:cNvPr id="7" name="Shape 4"/>
          <p:cNvSpPr/>
          <p:nvPr/>
        </p:nvSpPr>
        <p:spPr>
          <a:xfrm>
            <a:off x="5216962" y="2666881"/>
            <a:ext cx="4196358" cy="4058245"/>
          </a:xfrm>
          <a:prstGeom prst="roundRect">
            <a:avLst>
              <a:gd name="adj" fmla="val 3605"/>
            </a:avLst>
          </a:prstGeom>
          <a:solidFill>
            <a:srgbClr val="2A2A2D">
              <a:alpha val="95000"/>
            </a:srgbClr>
          </a:solidFill>
          <a:ln w="30480">
            <a:solidFill>
              <a:srgbClr val="56565B"/>
            </a:solidFill>
            <a:prstDash val="solid"/>
          </a:ln>
        </p:spPr>
      </p:sp>
      <p:pic>
        <p:nvPicPr>
          <p:cNvPr id="8" name="Image 1" descr="preencoded.png">    </p:cNvPr>
          <p:cNvPicPr>
            <a:picLocks noChangeAspect="1"/>
          </p:cNvPicPr>
          <p:nvPr/>
        </p:nvPicPr>
        <p:blipFill>
          <a:blip r:embed="rId2"/>
          <a:stretch>
            <a:fillRect/>
          </a:stretch>
        </p:blipFill>
        <p:spPr>
          <a:xfrm>
            <a:off x="5186482" y="2666881"/>
            <a:ext cx="121920" cy="4058245"/>
          </a:xfrm>
          <a:prstGeom prst="rect">
            <a:avLst/>
          </a:prstGeom>
        </p:spPr>
      </p:pic>
      <p:sp>
        <p:nvSpPr>
          <p:cNvPr id="9" name="Text 5"/>
          <p:cNvSpPr/>
          <p:nvPr/>
        </p:nvSpPr>
        <p:spPr>
          <a:xfrm>
            <a:off x="5565696" y="292417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Error Handling</a:t>
            </a:r>
            <a:endParaRPr lang="en-US" sz="2200" dirty="0"/>
          </a:p>
        </p:txBody>
      </p:sp>
      <p:sp>
        <p:nvSpPr>
          <p:cNvPr id="10" name="Text 6"/>
          <p:cNvSpPr/>
          <p:nvPr/>
        </p:nvSpPr>
        <p:spPr>
          <a:xfrm>
            <a:off x="5565696" y="3414593"/>
            <a:ext cx="3590330" cy="2336006"/>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Graceful handling of blank images and OCR failures</a:t>
            </a:r>
            <a:endParaRPr lang="en-US" sz="1750" dirty="0"/>
          </a:p>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User-friendly messages for API and connectivity issues</a:t>
            </a:r>
            <a:endParaRPr lang="en-US" sz="1750" dirty="0"/>
          </a:p>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Prevents automatic reprocessing on page refresh</a:t>
            </a:r>
            <a:endParaRPr lang="en-US" sz="1750" dirty="0"/>
          </a:p>
        </p:txBody>
      </p:sp>
      <p:sp>
        <p:nvSpPr>
          <p:cNvPr id="11" name="Shape 7"/>
          <p:cNvSpPr/>
          <p:nvPr/>
        </p:nvSpPr>
        <p:spPr>
          <a:xfrm>
            <a:off x="9640133" y="2666881"/>
            <a:ext cx="4196358" cy="4058245"/>
          </a:xfrm>
          <a:prstGeom prst="roundRect">
            <a:avLst>
              <a:gd name="adj" fmla="val 3605"/>
            </a:avLst>
          </a:prstGeom>
          <a:solidFill>
            <a:srgbClr val="2A2A2D">
              <a:alpha val="95000"/>
            </a:srgbClr>
          </a:solidFill>
          <a:ln w="30480">
            <a:solidFill>
              <a:srgbClr val="56565B"/>
            </a:solidFill>
            <a:prstDash val="solid"/>
          </a:ln>
        </p:spPr>
      </p:sp>
      <p:pic>
        <p:nvPicPr>
          <p:cNvPr id="12" name="Image 2" descr="preencoded.png">    </p:cNvPr>
          <p:cNvPicPr>
            <a:picLocks noChangeAspect="1"/>
          </p:cNvPicPr>
          <p:nvPr/>
        </p:nvPicPr>
        <p:blipFill>
          <a:blip r:embed="rId3"/>
          <a:stretch>
            <a:fillRect/>
          </a:stretch>
        </p:blipFill>
        <p:spPr>
          <a:xfrm>
            <a:off x="9609653" y="2666881"/>
            <a:ext cx="121920" cy="4058245"/>
          </a:xfrm>
          <a:prstGeom prst="rect">
            <a:avLst/>
          </a:prstGeom>
        </p:spPr>
      </p:pic>
      <p:sp>
        <p:nvSpPr>
          <p:cNvPr id="13" name="Text 8"/>
          <p:cNvSpPr/>
          <p:nvPr/>
        </p:nvSpPr>
        <p:spPr>
          <a:xfrm>
            <a:off x="9988868" y="292417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Instrument Sans Semi Bold" pitchFamily="34" charset="0"/>
                <a:ea typeface="Instrument Sans Semi Bold" pitchFamily="34" charset="-122"/>
                <a:cs typeface="Instrument Sans Semi Bold" pitchFamily="34" charset="-120"/>
              </a:rPr>
              <a:t>User Experience</a:t>
            </a:r>
            <a:endParaRPr lang="en-US" sz="2200" dirty="0"/>
          </a:p>
        </p:txBody>
      </p:sp>
      <p:sp>
        <p:nvSpPr>
          <p:cNvPr id="14" name="Text 9"/>
          <p:cNvSpPr/>
          <p:nvPr/>
        </p:nvSpPr>
        <p:spPr>
          <a:xfrm>
            <a:off x="9988868" y="3414593"/>
            <a:ext cx="3590330" cy="2336006"/>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Loading spinner provides feedback during processing</a:t>
            </a:r>
            <a:endParaRPr lang="en-US" sz="1750" dirty="0"/>
          </a:p>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Checkbox to show/hide raw OCR comparison</a:t>
            </a:r>
            <a:endParaRPr lang="en-US" sz="1750" dirty="0"/>
          </a:p>
          <a:p>
            <a:pPr algn="l" marL="342900" indent="-342900">
              <a:lnSpc>
                <a:spcPts val="2850"/>
              </a:lnSpc>
              <a:buSzPct val="100000"/>
              <a:buChar char="•"/>
            </a:pPr>
            <a:r>
              <a:rPr lang="en-US" sz="1750" dirty="0">
                <a:solidFill>
                  <a:srgbClr val="CFD0D8"/>
                </a:solidFill>
                <a:latin typeface="Instrument Sans Medium" pitchFamily="34" charset="0"/>
                <a:ea typeface="Instrument Sans Medium" pitchFamily="34" charset="-122"/>
                <a:cs typeface="Instrument Sans Medium" pitchFamily="34" charset="-120"/>
              </a:rPr>
              <a:t>Stable performance under continuous usage</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11518" y="632817"/>
            <a:ext cx="5963364" cy="635318"/>
          </a:xfrm>
          <a:prstGeom prst="rect">
            <a:avLst/>
          </a:prstGeom>
          <a:noFill/>
          <a:ln/>
        </p:spPr>
        <p:txBody>
          <a:bodyPr wrap="none" lIns="0" tIns="0" rIns="0" bIns="0" rtlCol="0" anchor="t"/>
          <a:lstStyle/>
          <a:p>
            <a:pPr algn="l" indent="0" marL="0">
              <a:lnSpc>
                <a:spcPts val="5000"/>
              </a:lnSpc>
              <a:buNone/>
            </a:pPr>
            <a:r>
              <a:rPr lang="en-US" sz="4000" dirty="0">
                <a:solidFill>
                  <a:srgbClr val="CBCCCE"/>
                </a:solidFill>
                <a:latin typeface="Instrument Sans Semi Bold" pitchFamily="34" charset="0"/>
                <a:ea typeface="Instrument Sans Semi Bold" pitchFamily="34" charset="-122"/>
                <a:cs typeface="Instrument Sans Semi Bold" pitchFamily="34" charset="-120"/>
              </a:rPr>
              <a:t>Development Milestones</a:t>
            </a:r>
            <a:endParaRPr lang="en-US" sz="4000" dirty="0"/>
          </a:p>
        </p:txBody>
      </p:sp>
      <p:sp>
        <p:nvSpPr>
          <p:cNvPr id="3" name="Shape 1"/>
          <p:cNvSpPr/>
          <p:nvPr/>
        </p:nvSpPr>
        <p:spPr>
          <a:xfrm>
            <a:off x="7303770" y="1632466"/>
            <a:ext cx="22860" cy="5964198"/>
          </a:xfrm>
          <a:prstGeom prst="roundRect">
            <a:avLst>
              <a:gd name="adj" fmla="val 373514"/>
            </a:avLst>
          </a:prstGeom>
          <a:solidFill>
            <a:srgbClr val="56565B"/>
          </a:solidFill>
          <a:ln/>
        </p:spPr>
      </p:sp>
      <p:sp>
        <p:nvSpPr>
          <p:cNvPr id="4" name="Shape 2"/>
          <p:cNvSpPr/>
          <p:nvPr/>
        </p:nvSpPr>
        <p:spPr>
          <a:xfrm>
            <a:off x="6499562" y="1849636"/>
            <a:ext cx="609838" cy="22860"/>
          </a:xfrm>
          <a:prstGeom prst="roundRect">
            <a:avLst>
              <a:gd name="adj" fmla="val 373514"/>
            </a:avLst>
          </a:prstGeom>
          <a:solidFill>
            <a:srgbClr val="56565B"/>
          </a:solidFill>
          <a:ln/>
        </p:spPr>
      </p:sp>
      <p:sp>
        <p:nvSpPr>
          <p:cNvPr id="5" name="Shape 3"/>
          <p:cNvSpPr/>
          <p:nvPr/>
        </p:nvSpPr>
        <p:spPr>
          <a:xfrm>
            <a:off x="7086540" y="1632466"/>
            <a:ext cx="457319" cy="457319"/>
          </a:xfrm>
          <a:prstGeom prst="roundRect">
            <a:avLst>
              <a:gd name="adj" fmla="val 18671"/>
            </a:avLst>
          </a:prstGeom>
          <a:solidFill>
            <a:srgbClr val="3D3D42"/>
          </a:solidFill>
          <a:ln w="7620">
            <a:solidFill>
              <a:srgbClr val="56565B"/>
            </a:solidFill>
            <a:prstDash val="solid"/>
          </a:ln>
        </p:spPr>
      </p:sp>
      <p:sp>
        <p:nvSpPr>
          <p:cNvPr id="6" name="Text 4"/>
          <p:cNvSpPr/>
          <p:nvPr/>
        </p:nvSpPr>
        <p:spPr>
          <a:xfrm>
            <a:off x="7162681" y="1670506"/>
            <a:ext cx="304919" cy="381119"/>
          </a:xfrm>
          <a:prstGeom prst="rect">
            <a:avLst/>
          </a:prstGeom>
          <a:noFill/>
          <a:ln/>
        </p:spPr>
        <p:txBody>
          <a:bodyPr wrap="none" lIns="0" tIns="0" rIns="0" bIns="0" rtlCol="0" anchor="t"/>
          <a:lstStyle/>
          <a:p>
            <a:pPr algn="ctr" indent="0" marL="0">
              <a:lnSpc>
                <a:spcPts val="2400"/>
              </a:lnSpc>
              <a:buNone/>
            </a:pPr>
            <a:r>
              <a:rPr lang="en-US" sz="2400" dirty="0">
                <a:solidFill>
                  <a:srgbClr val="CFD0D8"/>
                </a:solidFill>
                <a:latin typeface="Instrument Sans Semi Bold" pitchFamily="34" charset="0"/>
                <a:ea typeface="Instrument Sans Semi Bold" pitchFamily="34" charset="-122"/>
                <a:cs typeface="Instrument Sans Semi Bold" pitchFamily="34" charset="-120"/>
              </a:rPr>
              <a:t>1</a:t>
            </a:r>
            <a:endParaRPr lang="en-US" sz="2400" dirty="0"/>
          </a:p>
        </p:txBody>
      </p:sp>
      <p:sp>
        <p:nvSpPr>
          <p:cNvPr id="7" name="Text 5"/>
          <p:cNvSpPr/>
          <p:nvPr/>
        </p:nvSpPr>
        <p:spPr>
          <a:xfrm>
            <a:off x="3757613" y="1702237"/>
            <a:ext cx="2541151" cy="317540"/>
          </a:xfrm>
          <a:prstGeom prst="rect">
            <a:avLst/>
          </a:prstGeom>
          <a:noFill/>
          <a:ln/>
        </p:spPr>
        <p:txBody>
          <a:bodyPr wrap="none" lIns="0" tIns="0" rIns="0" bIns="0" rtlCol="0" anchor="t"/>
          <a:lstStyle/>
          <a:p>
            <a:pPr algn="r" indent="0" marL="0">
              <a:lnSpc>
                <a:spcPts val="2500"/>
              </a:lnSpc>
              <a:buNone/>
            </a:pPr>
            <a:r>
              <a:rPr lang="en-US" sz="2000" dirty="0">
                <a:solidFill>
                  <a:srgbClr val="CFD0D8"/>
                </a:solidFill>
                <a:latin typeface="Instrument Sans Semi Bold" pitchFamily="34" charset="0"/>
                <a:ea typeface="Instrument Sans Semi Bold" pitchFamily="34" charset="-122"/>
                <a:cs typeface="Instrument Sans Semi Bold" pitchFamily="34" charset="-120"/>
              </a:rPr>
              <a:t>Milestone 1</a:t>
            </a:r>
            <a:endParaRPr lang="en-US" sz="2000" dirty="0"/>
          </a:p>
        </p:txBody>
      </p:sp>
      <p:sp>
        <p:nvSpPr>
          <p:cNvPr id="8" name="Text 6"/>
          <p:cNvSpPr/>
          <p:nvPr/>
        </p:nvSpPr>
        <p:spPr>
          <a:xfrm>
            <a:off x="711518" y="2129076"/>
            <a:ext cx="5587246" cy="616506"/>
          </a:xfrm>
          <a:prstGeom prst="rect">
            <a:avLst/>
          </a:prstGeom>
          <a:noFill/>
          <a:ln/>
        </p:spPr>
        <p:txBody>
          <a:bodyPr wrap="square" lIns="0" tIns="0" rIns="0" bIns="0" rtlCol="0" anchor="t"/>
          <a:lstStyle/>
          <a:p>
            <a:pPr algn="r" indent="0" marL="0">
              <a:lnSpc>
                <a:spcPts val="2400"/>
              </a:lnSpc>
              <a:buNone/>
            </a:pPr>
            <a:r>
              <a:rPr lang="en-US" sz="1600" dirty="0">
                <a:solidFill>
                  <a:srgbClr val="CFD0D8"/>
                </a:solidFill>
                <a:latin typeface="Instrument Sans Medium" pitchFamily="34" charset="0"/>
                <a:ea typeface="Instrument Sans Medium" pitchFamily="34" charset="-122"/>
                <a:cs typeface="Instrument Sans Medium" pitchFamily="34" charset="-120"/>
              </a:rPr>
              <a:t>Gemini AI setup with API key configuration, environment variables, and prompt design for note processing</a:t>
            </a:r>
            <a:endParaRPr lang="en-US" sz="1600" dirty="0"/>
          </a:p>
        </p:txBody>
      </p:sp>
      <p:sp>
        <p:nvSpPr>
          <p:cNvPr id="9" name="Shape 7"/>
          <p:cNvSpPr/>
          <p:nvPr/>
        </p:nvSpPr>
        <p:spPr>
          <a:xfrm>
            <a:off x="7521000" y="3027045"/>
            <a:ext cx="609838" cy="22860"/>
          </a:xfrm>
          <a:prstGeom prst="roundRect">
            <a:avLst>
              <a:gd name="adj" fmla="val 373514"/>
            </a:avLst>
          </a:prstGeom>
          <a:solidFill>
            <a:srgbClr val="56565B"/>
          </a:solidFill>
          <a:ln/>
        </p:spPr>
      </p:sp>
      <p:sp>
        <p:nvSpPr>
          <p:cNvPr id="10" name="Shape 8"/>
          <p:cNvSpPr/>
          <p:nvPr/>
        </p:nvSpPr>
        <p:spPr>
          <a:xfrm>
            <a:off x="7086540" y="2809875"/>
            <a:ext cx="457319" cy="457319"/>
          </a:xfrm>
          <a:prstGeom prst="roundRect">
            <a:avLst>
              <a:gd name="adj" fmla="val 18671"/>
            </a:avLst>
          </a:prstGeom>
          <a:solidFill>
            <a:srgbClr val="3D3D42"/>
          </a:solidFill>
          <a:ln w="7620">
            <a:solidFill>
              <a:srgbClr val="56565B"/>
            </a:solidFill>
            <a:prstDash val="solid"/>
          </a:ln>
        </p:spPr>
      </p:sp>
      <p:sp>
        <p:nvSpPr>
          <p:cNvPr id="11" name="Text 9"/>
          <p:cNvSpPr/>
          <p:nvPr/>
        </p:nvSpPr>
        <p:spPr>
          <a:xfrm>
            <a:off x="7162681" y="2847915"/>
            <a:ext cx="304919" cy="381119"/>
          </a:xfrm>
          <a:prstGeom prst="rect">
            <a:avLst/>
          </a:prstGeom>
          <a:noFill/>
          <a:ln/>
        </p:spPr>
        <p:txBody>
          <a:bodyPr wrap="none" lIns="0" tIns="0" rIns="0" bIns="0" rtlCol="0" anchor="t"/>
          <a:lstStyle/>
          <a:p>
            <a:pPr algn="ctr" indent="0" marL="0">
              <a:lnSpc>
                <a:spcPts val="2400"/>
              </a:lnSpc>
              <a:buNone/>
            </a:pPr>
            <a:r>
              <a:rPr lang="en-US" sz="2400" dirty="0">
                <a:solidFill>
                  <a:srgbClr val="CFD0D8"/>
                </a:solidFill>
                <a:latin typeface="Instrument Sans Semi Bold" pitchFamily="34" charset="0"/>
                <a:ea typeface="Instrument Sans Semi Bold" pitchFamily="34" charset="-122"/>
                <a:cs typeface="Instrument Sans Semi Bold" pitchFamily="34" charset="-120"/>
              </a:rPr>
              <a:t>2</a:t>
            </a:r>
            <a:endParaRPr lang="en-US" sz="2400" dirty="0"/>
          </a:p>
        </p:txBody>
      </p:sp>
      <p:sp>
        <p:nvSpPr>
          <p:cNvPr id="12" name="Text 10"/>
          <p:cNvSpPr/>
          <p:nvPr/>
        </p:nvSpPr>
        <p:spPr>
          <a:xfrm>
            <a:off x="8331637" y="2879646"/>
            <a:ext cx="2541151" cy="317540"/>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Instrument Sans Semi Bold" pitchFamily="34" charset="0"/>
                <a:ea typeface="Instrument Sans Semi Bold" pitchFamily="34" charset="-122"/>
                <a:cs typeface="Instrument Sans Semi Bold" pitchFamily="34" charset="-120"/>
              </a:rPr>
              <a:t>Milestone 2</a:t>
            </a:r>
            <a:endParaRPr lang="en-US" sz="2000" dirty="0"/>
          </a:p>
        </p:txBody>
      </p:sp>
      <p:sp>
        <p:nvSpPr>
          <p:cNvPr id="13" name="Text 11"/>
          <p:cNvSpPr/>
          <p:nvPr/>
        </p:nvSpPr>
        <p:spPr>
          <a:xfrm>
            <a:off x="8331637" y="3306485"/>
            <a:ext cx="5587246" cy="616506"/>
          </a:xfrm>
          <a:prstGeom prst="rect">
            <a:avLst/>
          </a:prstGeom>
          <a:noFill/>
          <a:ln/>
        </p:spPr>
        <p:txBody>
          <a:bodyPr wrap="square" lIns="0" tIns="0" rIns="0" bIns="0" rtlCol="0" anchor="t"/>
          <a:lstStyle/>
          <a:p>
            <a:pPr algn="l" indent="0" marL="0">
              <a:lnSpc>
                <a:spcPts val="2400"/>
              </a:lnSpc>
              <a:buNone/>
            </a:pPr>
            <a:r>
              <a:rPr lang="en-US" sz="1600" dirty="0">
                <a:solidFill>
                  <a:srgbClr val="CFD0D8"/>
                </a:solidFill>
                <a:latin typeface="Instrument Sans Medium" pitchFamily="34" charset="0"/>
                <a:ea typeface="Instrument Sans Medium" pitchFamily="34" charset="-122"/>
                <a:cs typeface="Instrument Sans Medium" pitchFamily="34" charset="-120"/>
              </a:rPr>
              <a:t>Core Streamlit implementation with OCR processing module, image enhancement, and AI correction integration</a:t>
            </a:r>
            <a:endParaRPr lang="en-US" sz="1600" dirty="0"/>
          </a:p>
        </p:txBody>
      </p:sp>
      <p:sp>
        <p:nvSpPr>
          <p:cNvPr id="14" name="Shape 12"/>
          <p:cNvSpPr/>
          <p:nvPr/>
        </p:nvSpPr>
        <p:spPr>
          <a:xfrm>
            <a:off x="6499562" y="4057174"/>
            <a:ext cx="609838" cy="22860"/>
          </a:xfrm>
          <a:prstGeom prst="roundRect">
            <a:avLst>
              <a:gd name="adj" fmla="val 373514"/>
            </a:avLst>
          </a:prstGeom>
          <a:solidFill>
            <a:srgbClr val="56565B"/>
          </a:solidFill>
          <a:ln/>
        </p:spPr>
      </p:sp>
      <p:sp>
        <p:nvSpPr>
          <p:cNvPr id="15" name="Shape 13"/>
          <p:cNvSpPr/>
          <p:nvPr/>
        </p:nvSpPr>
        <p:spPr>
          <a:xfrm>
            <a:off x="7086540" y="3840004"/>
            <a:ext cx="457319" cy="457319"/>
          </a:xfrm>
          <a:prstGeom prst="roundRect">
            <a:avLst>
              <a:gd name="adj" fmla="val 18671"/>
            </a:avLst>
          </a:prstGeom>
          <a:solidFill>
            <a:srgbClr val="3D3D42"/>
          </a:solidFill>
          <a:ln w="7620">
            <a:solidFill>
              <a:srgbClr val="56565B"/>
            </a:solidFill>
            <a:prstDash val="solid"/>
          </a:ln>
        </p:spPr>
      </p:sp>
      <p:sp>
        <p:nvSpPr>
          <p:cNvPr id="16" name="Text 14"/>
          <p:cNvSpPr/>
          <p:nvPr/>
        </p:nvSpPr>
        <p:spPr>
          <a:xfrm>
            <a:off x="7162681" y="3878044"/>
            <a:ext cx="304919" cy="381119"/>
          </a:xfrm>
          <a:prstGeom prst="rect">
            <a:avLst/>
          </a:prstGeom>
          <a:noFill/>
          <a:ln/>
        </p:spPr>
        <p:txBody>
          <a:bodyPr wrap="none" lIns="0" tIns="0" rIns="0" bIns="0" rtlCol="0" anchor="t"/>
          <a:lstStyle/>
          <a:p>
            <a:pPr algn="ctr" indent="0" marL="0">
              <a:lnSpc>
                <a:spcPts val="2400"/>
              </a:lnSpc>
              <a:buNone/>
            </a:pPr>
            <a:r>
              <a:rPr lang="en-US" sz="2400" dirty="0">
                <a:solidFill>
                  <a:srgbClr val="CFD0D8"/>
                </a:solidFill>
                <a:latin typeface="Instrument Sans Semi Bold" pitchFamily="34" charset="0"/>
                <a:ea typeface="Instrument Sans Semi Bold" pitchFamily="34" charset="-122"/>
                <a:cs typeface="Instrument Sans Semi Bold" pitchFamily="34" charset="-120"/>
              </a:rPr>
              <a:t>3</a:t>
            </a:r>
            <a:endParaRPr lang="en-US" sz="2400" dirty="0"/>
          </a:p>
        </p:txBody>
      </p:sp>
      <p:sp>
        <p:nvSpPr>
          <p:cNvPr id="17" name="Text 15"/>
          <p:cNvSpPr/>
          <p:nvPr/>
        </p:nvSpPr>
        <p:spPr>
          <a:xfrm>
            <a:off x="3757613" y="3909774"/>
            <a:ext cx="2541151" cy="317540"/>
          </a:xfrm>
          <a:prstGeom prst="rect">
            <a:avLst/>
          </a:prstGeom>
          <a:noFill/>
          <a:ln/>
        </p:spPr>
        <p:txBody>
          <a:bodyPr wrap="none" lIns="0" tIns="0" rIns="0" bIns="0" rtlCol="0" anchor="t"/>
          <a:lstStyle/>
          <a:p>
            <a:pPr algn="r" indent="0" marL="0">
              <a:lnSpc>
                <a:spcPts val="2500"/>
              </a:lnSpc>
              <a:buNone/>
            </a:pPr>
            <a:r>
              <a:rPr lang="en-US" sz="2000" dirty="0">
                <a:solidFill>
                  <a:srgbClr val="CFD0D8"/>
                </a:solidFill>
                <a:latin typeface="Instrument Sans Semi Bold" pitchFamily="34" charset="0"/>
                <a:ea typeface="Instrument Sans Semi Bold" pitchFamily="34" charset="-122"/>
                <a:cs typeface="Instrument Sans Semi Bold" pitchFamily="34" charset="-120"/>
              </a:rPr>
              <a:t>Milestone 3</a:t>
            </a:r>
            <a:endParaRPr lang="en-US" sz="2000" dirty="0"/>
          </a:p>
        </p:txBody>
      </p:sp>
      <p:sp>
        <p:nvSpPr>
          <p:cNvPr id="18" name="Text 16"/>
          <p:cNvSpPr/>
          <p:nvPr/>
        </p:nvSpPr>
        <p:spPr>
          <a:xfrm>
            <a:off x="711518" y="4336613"/>
            <a:ext cx="5587246" cy="616506"/>
          </a:xfrm>
          <a:prstGeom prst="rect">
            <a:avLst/>
          </a:prstGeom>
          <a:noFill/>
          <a:ln/>
        </p:spPr>
        <p:txBody>
          <a:bodyPr wrap="square" lIns="0" tIns="0" rIns="0" bIns="0" rtlCol="0" anchor="t"/>
          <a:lstStyle/>
          <a:p>
            <a:pPr algn="r" indent="0" marL="0">
              <a:lnSpc>
                <a:spcPts val="2400"/>
              </a:lnSpc>
              <a:buNone/>
            </a:pPr>
            <a:r>
              <a:rPr lang="en-US" sz="1600" dirty="0">
                <a:solidFill>
                  <a:srgbClr val="CFD0D8"/>
                </a:solidFill>
                <a:latin typeface="Instrument Sans Medium" pitchFamily="34" charset="0"/>
                <a:ea typeface="Instrument Sans Medium" pitchFamily="34" charset="-122"/>
                <a:cs typeface="Instrument Sans Medium" pitchFamily="34" charset="-120"/>
              </a:rPr>
              <a:t>Flask backend development with complete route definitions, error handling, logging, and JSON responses</a:t>
            </a:r>
            <a:endParaRPr lang="en-US" sz="1600" dirty="0"/>
          </a:p>
        </p:txBody>
      </p:sp>
      <p:sp>
        <p:nvSpPr>
          <p:cNvPr id="19" name="Shape 17"/>
          <p:cNvSpPr/>
          <p:nvPr/>
        </p:nvSpPr>
        <p:spPr>
          <a:xfrm>
            <a:off x="7521000" y="5087422"/>
            <a:ext cx="609838" cy="22860"/>
          </a:xfrm>
          <a:prstGeom prst="roundRect">
            <a:avLst>
              <a:gd name="adj" fmla="val 373514"/>
            </a:avLst>
          </a:prstGeom>
          <a:solidFill>
            <a:srgbClr val="56565B"/>
          </a:solidFill>
          <a:ln/>
        </p:spPr>
      </p:sp>
      <p:sp>
        <p:nvSpPr>
          <p:cNvPr id="20" name="Shape 18"/>
          <p:cNvSpPr/>
          <p:nvPr/>
        </p:nvSpPr>
        <p:spPr>
          <a:xfrm>
            <a:off x="7086540" y="4870252"/>
            <a:ext cx="457319" cy="457319"/>
          </a:xfrm>
          <a:prstGeom prst="roundRect">
            <a:avLst>
              <a:gd name="adj" fmla="val 18671"/>
            </a:avLst>
          </a:prstGeom>
          <a:solidFill>
            <a:srgbClr val="3D3D42"/>
          </a:solidFill>
          <a:ln w="7620">
            <a:solidFill>
              <a:srgbClr val="56565B"/>
            </a:solidFill>
            <a:prstDash val="solid"/>
          </a:ln>
        </p:spPr>
      </p:sp>
      <p:sp>
        <p:nvSpPr>
          <p:cNvPr id="21" name="Text 19"/>
          <p:cNvSpPr/>
          <p:nvPr/>
        </p:nvSpPr>
        <p:spPr>
          <a:xfrm>
            <a:off x="7162681" y="4908292"/>
            <a:ext cx="304919" cy="381119"/>
          </a:xfrm>
          <a:prstGeom prst="rect">
            <a:avLst/>
          </a:prstGeom>
          <a:noFill/>
          <a:ln/>
        </p:spPr>
        <p:txBody>
          <a:bodyPr wrap="none" lIns="0" tIns="0" rIns="0" bIns="0" rtlCol="0" anchor="t"/>
          <a:lstStyle/>
          <a:p>
            <a:pPr algn="ctr" indent="0" marL="0">
              <a:lnSpc>
                <a:spcPts val="2400"/>
              </a:lnSpc>
              <a:buNone/>
            </a:pPr>
            <a:r>
              <a:rPr lang="en-US" sz="2400" dirty="0">
                <a:solidFill>
                  <a:srgbClr val="CFD0D8"/>
                </a:solidFill>
                <a:latin typeface="Instrument Sans Semi Bold" pitchFamily="34" charset="0"/>
                <a:ea typeface="Instrument Sans Semi Bold" pitchFamily="34" charset="-122"/>
                <a:cs typeface="Instrument Sans Semi Bold" pitchFamily="34" charset="-120"/>
              </a:rPr>
              <a:t>4</a:t>
            </a:r>
            <a:endParaRPr lang="en-US" sz="2400" dirty="0"/>
          </a:p>
        </p:txBody>
      </p:sp>
      <p:sp>
        <p:nvSpPr>
          <p:cNvPr id="22" name="Text 20"/>
          <p:cNvSpPr/>
          <p:nvPr/>
        </p:nvSpPr>
        <p:spPr>
          <a:xfrm>
            <a:off x="8331637" y="4940022"/>
            <a:ext cx="2541151" cy="317540"/>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Instrument Sans Semi Bold" pitchFamily="34" charset="0"/>
                <a:ea typeface="Instrument Sans Semi Bold" pitchFamily="34" charset="-122"/>
                <a:cs typeface="Instrument Sans Semi Bold" pitchFamily="34" charset="-120"/>
              </a:rPr>
              <a:t>Milestone 4</a:t>
            </a:r>
            <a:endParaRPr lang="en-US" sz="2000" dirty="0"/>
          </a:p>
        </p:txBody>
      </p:sp>
      <p:sp>
        <p:nvSpPr>
          <p:cNvPr id="23" name="Text 21"/>
          <p:cNvSpPr/>
          <p:nvPr/>
        </p:nvSpPr>
        <p:spPr>
          <a:xfrm>
            <a:off x="8331637" y="5366861"/>
            <a:ext cx="5587246" cy="616506"/>
          </a:xfrm>
          <a:prstGeom prst="rect">
            <a:avLst/>
          </a:prstGeom>
          <a:noFill/>
          <a:ln/>
        </p:spPr>
        <p:txBody>
          <a:bodyPr wrap="square" lIns="0" tIns="0" rIns="0" bIns="0" rtlCol="0" anchor="t"/>
          <a:lstStyle/>
          <a:p>
            <a:pPr algn="l" indent="0" marL="0">
              <a:lnSpc>
                <a:spcPts val="2400"/>
              </a:lnSpc>
              <a:buNone/>
            </a:pPr>
            <a:r>
              <a:rPr lang="en-US" sz="1600" dirty="0">
                <a:solidFill>
                  <a:srgbClr val="CFD0D8"/>
                </a:solidFill>
                <a:latin typeface="Instrument Sans Medium" pitchFamily="34" charset="0"/>
                <a:ea typeface="Instrument Sans Medium" pitchFamily="34" charset="-122"/>
                <a:cs typeface="Instrument Sans Medium" pitchFamily="34" charset="-120"/>
              </a:rPr>
              <a:t>Modern UI with responsive design, multi-page navigation, export functionality, and user feedback systems</a:t>
            </a:r>
            <a:endParaRPr lang="en-US" sz="1600" dirty="0"/>
          </a:p>
        </p:txBody>
      </p:sp>
      <p:sp>
        <p:nvSpPr>
          <p:cNvPr id="24" name="Shape 22"/>
          <p:cNvSpPr/>
          <p:nvPr/>
        </p:nvSpPr>
        <p:spPr>
          <a:xfrm>
            <a:off x="6499562" y="6117669"/>
            <a:ext cx="609838" cy="22860"/>
          </a:xfrm>
          <a:prstGeom prst="roundRect">
            <a:avLst>
              <a:gd name="adj" fmla="val 373514"/>
            </a:avLst>
          </a:prstGeom>
          <a:solidFill>
            <a:srgbClr val="56565B"/>
          </a:solidFill>
          <a:ln/>
        </p:spPr>
      </p:sp>
      <p:sp>
        <p:nvSpPr>
          <p:cNvPr id="25" name="Shape 23"/>
          <p:cNvSpPr/>
          <p:nvPr/>
        </p:nvSpPr>
        <p:spPr>
          <a:xfrm>
            <a:off x="7086540" y="5900499"/>
            <a:ext cx="457319" cy="457319"/>
          </a:xfrm>
          <a:prstGeom prst="roundRect">
            <a:avLst>
              <a:gd name="adj" fmla="val 18671"/>
            </a:avLst>
          </a:prstGeom>
          <a:solidFill>
            <a:srgbClr val="3D3D42"/>
          </a:solidFill>
          <a:ln w="7620">
            <a:solidFill>
              <a:srgbClr val="56565B"/>
            </a:solidFill>
            <a:prstDash val="solid"/>
          </a:ln>
        </p:spPr>
      </p:sp>
      <p:sp>
        <p:nvSpPr>
          <p:cNvPr id="26" name="Text 24"/>
          <p:cNvSpPr/>
          <p:nvPr/>
        </p:nvSpPr>
        <p:spPr>
          <a:xfrm>
            <a:off x="7162681" y="5938540"/>
            <a:ext cx="304919" cy="381119"/>
          </a:xfrm>
          <a:prstGeom prst="rect">
            <a:avLst/>
          </a:prstGeom>
          <a:noFill/>
          <a:ln/>
        </p:spPr>
        <p:txBody>
          <a:bodyPr wrap="none" lIns="0" tIns="0" rIns="0" bIns="0" rtlCol="0" anchor="t"/>
          <a:lstStyle/>
          <a:p>
            <a:pPr algn="ctr" indent="0" marL="0">
              <a:lnSpc>
                <a:spcPts val="2400"/>
              </a:lnSpc>
              <a:buNone/>
            </a:pPr>
            <a:r>
              <a:rPr lang="en-US" sz="2400" dirty="0">
                <a:solidFill>
                  <a:srgbClr val="CFD0D8"/>
                </a:solidFill>
                <a:latin typeface="Instrument Sans Semi Bold" pitchFamily="34" charset="0"/>
                <a:ea typeface="Instrument Sans Semi Bold" pitchFamily="34" charset="-122"/>
                <a:cs typeface="Instrument Sans Semi Bold" pitchFamily="34" charset="-120"/>
              </a:rPr>
              <a:t>5</a:t>
            </a:r>
            <a:endParaRPr lang="en-US" sz="2400" dirty="0"/>
          </a:p>
        </p:txBody>
      </p:sp>
      <p:sp>
        <p:nvSpPr>
          <p:cNvPr id="27" name="Text 25"/>
          <p:cNvSpPr/>
          <p:nvPr/>
        </p:nvSpPr>
        <p:spPr>
          <a:xfrm>
            <a:off x="3757613" y="5970270"/>
            <a:ext cx="2541151" cy="317540"/>
          </a:xfrm>
          <a:prstGeom prst="rect">
            <a:avLst/>
          </a:prstGeom>
          <a:noFill/>
          <a:ln/>
        </p:spPr>
        <p:txBody>
          <a:bodyPr wrap="none" lIns="0" tIns="0" rIns="0" bIns="0" rtlCol="0" anchor="t"/>
          <a:lstStyle/>
          <a:p>
            <a:pPr algn="r" indent="0" marL="0">
              <a:lnSpc>
                <a:spcPts val="2500"/>
              </a:lnSpc>
              <a:buNone/>
            </a:pPr>
            <a:r>
              <a:rPr lang="en-US" sz="2000" dirty="0">
                <a:solidFill>
                  <a:srgbClr val="CFD0D8"/>
                </a:solidFill>
                <a:latin typeface="Instrument Sans Semi Bold" pitchFamily="34" charset="0"/>
                <a:ea typeface="Instrument Sans Semi Bold" pitchFamily="34" charset="-122"/>
                <a:cs typeface="Instrument Sans Semi Bold" pitchFamily="34" charset="-120"/>
              </a:rPr>
              <a:t>Milestone 5</a:t>
            </a:r>
            <a:endParaRPr lang="en-US" sz="2000" dirty="0"/>
          </a:p>
        </p:txBody>
      </p:sp>
      <p:sp>
        <p:nvSpPr>
          <p:cNvPr id="28" name="Text 26"/>
          <p:cNvSpPr/>
          <p:nvPr/>
        </p:nvSpPr>
        <p:spPr>
          <a:xfrm>
            <a:off x="711518" y="6397109"/>
            <a:ext cx="5587246" cy="616506"/>
          </a:xfrm>
          <a:prstGeom prst="rect">
            <a:avLst/>
          </a:prstGeom>
          <a:noFill/>
          <a:ln/>
        </p:spPr>
        <p:txBody>
          <a:bodyPr wrap="square" lIns="0" tIns="0" rIns="0" bIns="0" rtlCol="0" anchor="t"/>
          <a:lstStyle/>
          <a:p>
            <a:pPr algn="r" indent="0" marL="0">
              <a:lnSpc>
                <a:spcPts val="2400"/>
              </a:lnSpc>
              <a:buNone/>
            </a:pPr>
            <a:r>
              <a:rPr lang="en-US" sz="1600" dirty="0">
                <a:solidFill>
                  <a:srgbClr val="CFD0D8"/>
                </a:solidFill>
                <a:latin typeface="Instrument Sans Medium" pitchFamily="34" charset="0"/>
                <a:ea typeface="Instrument Sans Medium" pitchFamily="34" charset="-122"/>
                <a:cs typeface="Instrument Sans Medium" pitchFamily="34" charset="-120"/>
              </a:rPr>
              <a:t>Comprehensive testing with quality evaluation, performance optimisation, and edge case handling</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76618" y="630674"/>
            <a:ext cx="7563564" cy="1411129"/>
          </a:xfrm>
          <a:prstGeom prst="rect">
            <a:avLst/>
          </a:prstGeom>
          <a:noFill/>
          <a:ln/>
        </p:spPr>
        <p:txBody>
          <a:bodyPr wrap="square" lIns="0" tIns="0" rIns="0" bIns="0" rtlCol="0" anchor="t"/>
          <a:lstStyle/>
          <a:p>
            <a:pPr algn="l" indent="0" marL="0">
              <a:lnSpc>
                <a:spcPts val="5550"/>
              </a:lnSpc>
              <a:buNone/>
            </a:pPr>
            <a:r>
              <a:rPr lang="en-US" sz="4400" dirty="0">
                <a:solidFill>
                  <a:srgbClr val="CBCCCE"/>
                </a:solidFill>
                <a:latin typeface="Instrument Sans Semi Bold" pitchFamily="34" charset="0"/>
                <a:ea typeface="Instrument Sans Semi Bold" pitchFamily="34" charset="-122"/>
                <a:cs typeface="Instrument Sans Semi Bold" pitchFamily="34" charset="-120"/>
              </a:rPr>
              <a:t>Real Results, Measurable Impact</a:t>
            </a:r>
            <a:endParaRPr lang="en-US" sz="4400" dirty="0"/>
          </a:p>
        </p:txBody>
      </p:sp>
      <p:sp>
        <p:nvSpPr>
          <p:cNvPr id="4" name="Text 1"/>
          <p:cNvSpPr/>
          <p:nvPr/>
        </p:nvSpPr>
        <p:spPr>
          <a:xfrm>
            <a:off x="6276618" y="2603540"/>
            <a:ext cx="3232785" cy="352663"/>
          </a:xfrm>
          <a:prstGeom prst="rect">
            <a:avLst/>
          </a:prstGeom>
          <a:noFill/>
          <a:ln/>
        </p:spPr>
        <p:txBody>
          <a:bodyPr wrap="none" lIns="0" tIns="0" rIns="0" bIns="0" rtlCol="0" anchor="t"/>
          <a:lstStyle/>
          <a:p>
            <a:pPr algn="l" indent="0" marL="0">
              <a:lnSpc>
                <a:spcPts val="2750"/>
              </a:lnSpc>
              <a:buNone/>
            </a:pPr>
            <a:r>
              <a:rPr lang="en-US" sz="2200" dirty="0">
                <a:solidFill>
                  <a:srgbClr val="CBCCCE"/>
                </a:solidFill>
                <a:latin typeface="Instrument Sans Semi Bold" pitchFamily="34" charset="0"/>
                <a:ea typeface="Instrument Sans Semi Bold" pitchFamily="34" charset="-122"/>
                <a:cs typeface="Instrument Sans Semi Bold" pitchFamily="34" charset="-120"/>
              </a:rPr>
              <a:t>Accuracy Improvements</a:t>
            </a:r>
            <a:endParaRPr lang="en-US" sz="2200" dirty="0"/>
          </a:p>
        </p:txBody>
      </p:sp>
      <p:sp>
        <p:nvSpPr>
          <p:cNvPr id="5" name="Text 2"/>
          <p:cNvSpPr/>
          <p:nvPr/>
        </p:nvSpPr>
        <p:spPr>
          <a:xfrm>
            <a:off x="6276618" y="3180874"/>
            <a:ext cx="3506391" cy="2161699"/>
          </a:xfrm>
          <a:prstGeom prst="rect">
            <a:avLst/>
          </a:prstGeom>
          <a:noFill/>
          <a:ln/>
        </p:spPr>
        <p:txBody>
          <a:bodyPr wrap="square" lIns="0" tIns="0" rIns="0" bIns="0" rtlCol="0" anchor="t"/>
          <a:lstStyle/>
          <a:p>
            <a:pPr algn="l" indent="0" marL="0">
              <a:lnSpc>
                <a:spcPts val="280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Image preprocessing combined with contextual AI correction significantly enhances OCR accuracy, even for poor-quality handwriting with shadows or low brightness.</a:t>
            </a:r>
            <a:endParaRPr lang="en-US" sz="1750" dirty="0"/>
          </a:p>
        </p:txBody>
      </p:sp>
      <p:sp>
        <p:nvSpPr>
          <p:cNvPr id="6" name="Text 3"/>
          <p:cNvSpPr/>
          <p:nvPr/>
        </p:nvSpPr>
        <p:spPr>
          <a:xfrm>
            <a:off x="10341412" y="2603540"/>
            <a:ext cx="2822258" cy="352663"/>
          </a:xfrm>
          <a:prstGeom prst="rect">
            <a:avLst/>
          </a:prstGeom>
          <a:noFill/>
          <a:ln/>
        </p:spPr>
        <p:txBody>
          <a:bodyPr wrap="none" lIns="0" tIns="0" rIns="0" bIns="0" rtlCol="0" anchor="t"/>
          <a:lstStyle/>
          <a:p>
            <a:pPr algn="l" indent="0" marL="0">
              <a:lnSpc>
                <a:spcPts val="2750"/>
              </a:lnSpc>
              <a:buNone/>
            </a:pPr>
            <a:r>
              <a:rPr lang="en-US" sz="2200" dirty="0">
                <a:solidFill>
                  <a:srgbClr val="CBCCCE"/>
                </a:solidFill>
                <a:latin typeface="Instrument Sans Semi Bold" pitchFamily="34" charset="0"/>
                <a:ea typeface="Instrument Sans Semi Bold" pitchFamily="34" charset="-122"/>
                <a:cs typeface="Instrument Sans Semi Bold" pitchFamily="34" charset="-120"/>
              </a:rPr>
              <a:t>Productivity Gains</a:t>
            </a:r>
            <a:endParaRPr lang="en-US" sz="2200" dirty="0"/>
          </a:p>
        </p:txBody>
      </p:sp>
      <p:sp>
        <p:nvSpPr>
          <p:cNvPr id="7" name="Text 4"/>
          <p:cNvSpPr/>
          <p:nvPr/>
        </p:nvSpPr>
        <p:spPr>
          <a:xfrm>
            <a:off x="10341412" y="3180874"/>
            <a:ext cx="3506391" cy="1801416"/>
          </a:xfrm>
          <a:prstGeom prst="rect">
            <a:avLst/>
          </a:prstGeom>
          <a:noFill/>
          <a:ln/>
        </p:spPr>
        <p:txBody>
          <a:bodyPr wrap="square" lIns="0" tIns="0" rIns="0" bIns="0" rtlCol="0" anchor="t"/>
          <a:lstStyle/>
          <a:p>
            <a:pPr algn="l" indent="0" marL="0">
              <a:lnSpc>
                <a:spcPts val="280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Automatic task extraction eliminates manual identification of action items, saving users time whilst ensuring no tasks are overlooked in their notes.</a:t>
            </a:r>
            <a:endParaRPr lang="en-US" sz="1750" dirty="0"/>
          </a:p>
        </p:txBody>
      </p:sp>
      <p:sp>
        <p:nvSpPr>
          <p:cNvPr id="8" name="Text 5"/>
          <p:cNvSpPr/>
          <p:nvPr/>
        </p:nvSpPr>
        <p:spPr>
          <a:xfrm>
            <a:off x="6276618" y="5797510"/>
            <a:ext cx="7563564" cy="1801416"/>
          </a:xfrm>
          <a:prstGeom prst="rect">
            <a:avLst/>
          </a:prstGeom>
          <a:noFill/>
          <a:ln/>
        </p:spPr>
        <p:txBody>
          <a:bodyPr wrap="square" lIns="0" tIns="0" rIns="0" bIns="0" rtlCol="0" anchor="t"/>
          <a:lstStyle/>
          <a:p>
            <a:pPr algn="l" indent="0" marL="0">
              <a:lnSpc>
                <a:spcPts val="2800"/>
              </a:lnSpc>
              <a:buNone/>
            </a:pPr>
            <a:r>
              <a:rPr lang="en-US" sz="1750" b="1" dirty="0">
                <a:solidFill>
                  <a:srgbClr val="D5D5D8"/>
                </a:solidFill>
                <a:latin typeface="Instrument Sans Medium" pitchFamily="34" charset="0"/>
                <a:ea typeface="Instrument Sans Medium" pitchFamily="34" charset="-122"/>
                <a:cs typeface="Instrument Sans Medium" pitchFamily="34" charset="-120"/>
              </a:rPr>
              <a:t>Scribble to Digital</a:t>
            </a:r>
            <a:pPr algn="l" indent="0" marL="0">
              <a:lnSpc>
                <a:spcPts val="2800"/>
              </a:lnSpc>
              <a:buNone/>
            </a:pPr>
            <a:r>
              <a:rPr lang="en-US" sz="1750" dirty="0">
                <a:solidFill>
                  <a:srgbClr val="CFD0D8"/>
                </a:solidFill>
                <a:latin typeface="Instrument Sans Medium" pitchFamily="34" charset="0"/>
                <a:ea typeface="Instrument Sans Medium" pitchFamily="34" charset="-122"/>
                <a:cs typeface="Instrument Sans Medium" pitchFamily="34" charset="-120"/>
              </a:rPr>
              <a:t> bridges the gap between handwritten creativity and digital productivity, transforming messy notes into clean text and structured task lists. Whether for students, professionals, or teams, the application serves as an intelligent assistant that enhances organisation, improves clarity, and streamlines everyday workflows.</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28531" y="1174909"/>
            <a:ext cx="5394960" cy="561142"/>
          </a:xfrm>
          <a:prstGeom prst="rect">
            <a:avLst/>
          </a:prstGeom>
          <a:noFill/>
          <a:ln/>
        </p:spPr>
        <p:txBody>
          <a:bodyPr wrap="none" lIns="0" tIns="0" rIns="0" bIns="0" rtlCol="0" anchor="t"/>
          <a:lstStyle/>
          <a:p>
            <a:pPr algn="l" indent="0" marL="0">
              <a:lnSpc>
                <a:spcPts val="4400"/>
              </a:lnSpc>
              <a:buNone/>
            </a:pPr>
            <a:r>
              <a:rPr lang="en-US" sz="3500" dirty="0">
                <a:solidFill>
                  <a:srgbClr val="CBCCCE"/>
                </a:solidFill>
                <a:latin typeface="Instrument Sans Semi Bold" pitchFamily="34" charset="0"/>
                <a:ea typeface="Instrument Sans Semi Bold" pitchFamily="34" charset="-122"/>
                <a:cs typeface="Instrument Sans Semi Bold" pitchFamily="34" charset="-120"/>
              </a:rPr>
              <a:t>Transform Your Workflow</a:t>
            </a:r>
            <a:endParaRPr lang="en-US" sz="3500" dirty="0"/>
          </a:p>
        </p:txBody>
      </p:sp>
      <p:sp>
        <p:nvSpPr>
          <p:cNvPr id="4" name="Text 1"/>
          <p:cNvSpPr/>
          <p:nvPr/>
        </p:nvSpPr>
        <p:spPr>
          <a:xfrm>
            <a:off x="628531" y="1949291"/>
            <a:ext cx="7886938" cy="1029176"/>
          </a:xfrm>
          <a:prstGeom prst="rect">
            <a:avLst/>
          </a:prstGeom>
          <a:noFill/>
          <a:ln/>
        </p:spPr>
        <p:txBody>
          <a:bodyPr wrap="square" lIns="0" tIns="0" rIns="0" bIns="0" rtlCol="0" anchor="t"/>
          <a:lstStyle/>
          <a:p>
            <a:pPr algn="l" indent="0" marL="0">
              <a:lnSpc>
                <a:spcPts val="200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Scribble to Digital bridges handwritten creativity with digital productivity. By combining OCR technology with advanced generative AI, the system accurately extracts handwritten content, enhances readability through contextual correction, and intelligently identifies actionable tasks.</a:t>
            </a:r>
            <a:endParaRPr lang="en-US" sz="1400" dirty="0"/>
          </a:p>
        </p:txBody>
      </p:sp>
      <p:sp>
        <p:nvSpPr>
          <p:cNvPr id="5" name="Shape 2"/>
          <p:cNvSpPr/>
          <p:nvPr/>
        </p:nvSpPr>
        <p:spPr>
          <a:xfrm>
            <a:off x="628531" y="3138368"/>
            <a:ext cx="3872389" cy="1678424"/>
          </a:xfrm>
          <a:prstGeom prst="roundRect">
            <a:avLst>
              <a:gd name="adj" fmla="val 4494"/>
            </a:avLst>
          </a:prstGeom>
          <a:solidFill>
            <a:srgbClr val="3D3D42"/>
          </a:solidFill>
          <a:ln w="7620">
            <a:solidFill>
              <a:srgbClr val="56565B"/>
            </a:solidFill>
            <a:prstDash val="solid"/>
          </a:ln>
        </p:spPr>
      </p:sp>
      <p:pic>
        <p:nvPicPr>
          <p:cNvPr id="6" name="Image 1" descr="preencoded.png">    </p:cNvPr>
          <p:cNvPicPr>
            <a:picLocks noChangeAspect="1"/>
          </p:cNvPicPr>
          <p:nvPr/>
        </p:nvPicPr>
        <p:blipFill>
          <a:blip r:embed="rId2"/>
          <a:stretch>
            <a:fillRect/>
          </a:stretch>
        </p:blipFill>
        <p:spPr>
          <a:xfrm>
            <a:off x="815697" y="3325535"/>
            <a:ext cx="538758" cy="538758"/>
          </a:xfrm>
          <a:prstGeom prst="rect">
            <a:avLst/>
          </a:prstGeom>
        </p:spPr>
      </p:pic>
      <p:pic>
        <p:nvPicPr>
          <p:cNvPr id="7"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3811" y="3473648"/>
            <a:ext cx="242411" cy="242411"/>
          </a:xfrm>
          <a:prstGeom prst="rect">
            <a:avLst/>
          </a:prstGeom>
        </p:spPr>
      </p:pic>
      <p:sp>
        <p:nvSpPr>
          <p:cNvPr id="8" name="Text 3"/>
          <p:cNvSpPr/>
          <p:nvPr/>
        </p:nvSpPr>
        <p:spPr>
          <a:xfrm>
            <a:off x="815697" y="4006453"/>
            <a:ext cx="2244923" cy="280630"/>
          </a:xfrm>
          <a:prstGeom prst="rect">
            <a:avLst/>
          </a:prstGeom>
          <a:noFill/>
          <a:ln/>
        </p:spPr>
        <p:txBody>
          <a:bodyPr wrap="none" lIns="0" tIns="0" rIns="0" bIns="0" rtlCol="0" anchor="t"/>
          <a:lstStyle/>
          <a:p>
            <a:pPr algn="l" indent="0" marL="0">
              <a:lnSpc>
                <a:spcPts val="2200"/>
              </a:lnSpc>
              <a:buNone/>
            </a:pPr>
            <a:r>
              <a:rPr lang="en-US" sz="1750" dirty="0">
                <a:solidFill>
                  <a:srgbClr val="CFD0D8"/>
                </a:solidFill>
                <a:latin typeface="Instrument Sans Semi Bold" pitchFamily="34" charset="0"/>
                <a:ea typeface="Instrument Sans Semi Bold" pitchFamily="34" charset="-122"/>
                <a:cs typeface="Instrument Sans Semi Bold" pitchFamily="34" charset="-120"/>
              </a:rPr>
              <a:t>Students</a:t>
            </a:r>
            <a:endParaRPr lang="en-US" sz="1750" dirty="0"/>
          </a:p>
        </p:txBody>
      </p:sp>
      <p:sp>
        <p:nvSpPr>
          <p:cNvPr id="9" name="Text 4"/>
          <p:cNvSpPr/>
          <p:nvPr/>
        </p:nvSpPr>
        <p:spPr>
          <a:xfrm>
            <a:off x="815697" y="4372332"/>
            <a:ext cx="3498056" cy="257294"/>
          </a:xfrm>
          <a:prstGeom prst="rect">
            <a:avLst/>
          </a:prstGeom>
          <a:noFill/>
          <a:ln/>
        </p:spPr>
        <p:txBody>
          <a:bodyPr wrap="none" lIns="0" tIns="0" rIns="0" bIns="0" rtlCol="0" anchor="t"/>
          <a:lstStyle/>
          <a:p>
            <a:pPr algn="l" indent="0" marL="0">
              <a:lnSpc>
                <a:spcPts val="200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Convert lecture notes instantly</a:t>
            </a:r>
            <a:endParaRPr lang="en-US" sz="1400" dirty="0"/>
          </a:p>
        </p:txBody>
      </p:sp>
      <p:sp>
        <p:nvSpPr>
          <p:cNvPr id="10" name="Shape 5"/>
          <p:cNvSpPr/>
          <p:nvPr/>
        </p:nvSpPr>
        <p:spPr>
          <a:xfrm>
            <a:off x="4643080" y="3138368"/>
            <a:ext cx="3872389" cy="1678424"/>
          </a:xfrm>
          <a:prstGeom prst="roundRect">
            <a:avLst>
              <a:gd name="adj" fmla="val 4494"/>
            </a:avLst>
          </a:prstGeom>
          <a:solidFill>
            <a:srgbClr val="3D3D42"/>
          </a:solidFill>
          <a:ln w="7620">
            <a:solidFill>
              <a:srgbClr val="56565B"/>
            </a:solidFill>
            <a:prstDash val="solid"/>
          </a:ln>
        </p:spPr>
      </p:sp>
      <p:pic>
        <p:nvPicPr>
          <p:cNvPr id="11" name="Image 3" descr="preencoded.png">    </p:cNvPr>
          <p:cNvPicPr>
            <a:picLocks noChangeAspect="1"/>
          </p:cNvPicPr>
          <p:nvPr/>
        </p:nvPicPr>
        <p:blipFill>
          <a:blip r:embed="rId5"/>
          <a:stretch>
            <a:fillRect/>
          </a:stretch>
        </p:blipFill>
        <p:spPr>
          <a:xfrm>
            <a:off x="4830247" y="3325535"/>
            <a:ext cx="538758" cy="538758"/>
          </a:xfrm>
          <a:prstGeom prst="rect">
            <a:avLst/>
          </a:prstGeom>
        </p:spPr>
      </p:pic>
      <p:pic>
        <p:nvPicPr>
          <p:cNvPr id="12" name="Image 4"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78360" y="3473648"/>
            <a:ext cx="242411" cy="242411"/>
          </a:xfrm>
          <a:prstGeom prst="rect">
            <a:avLst/>
          </a:prstGeom>
        </p:spPr>
      </p:pic>
      <p:sp>
        <p:nvSpPr>
          <p:cNvPr id="13" name="Text 6"/>
          <p:cNvSpPr/>
          <p:nvPr/>
        </p:nvSpPr>
        <p:spPr>
          <a:xfrm>
            <a:off x="4830247" y="4006453"/>
            <a:ext cx="2244923" cy="280630"/>
          </a:xfrm>
          <a:prstGeom prst="rect">
            <a:avLst/>
          </a:prstGeom>
          <a:noFill/>
          <a:ln/>
        </p:spPr>
        <p:txBody>
          <a:bodyPr wrap="none" lIns="0" tIns="0" rIns="0" bIns="0" rtlCol="0" anchor="t"/>
          <a:lstStyle/>
          <a:p>
            <a:pPr algn="l" indent="0" marL="0">
              <a:lnSpc>
                <a:spcPts val="2200"/>
              </a:lnSpc>
              <a:buNone/>
            </a:pPr>
            <a:r>
              <a:rPr lang="en-US" sz="1750" dirty="0">
                <a:solidFill>
                  <a:srgbClr val="CFD0D8"/>
                </a:solidFill>
                <a:latin typeface="Instrument Sans Semi Bold" pitchFamily="34" charset="0"/>
                <a:ea typeface="Instrument Sans Semi Bold" pitchFamily="34" charset="-122"/>
                <a:cs typeface="Instrument Sans Semi Bold" pitchFamily="34" charset="-120"/>
              </a:rPr>
              <a:t>Professionals</a:t>
            </a:r>
            <a:endParaRPr lang="en-US" sz="1750" dirty="0"/>
          </a:p>
        </p:txBody>
      </p:sp>
      <p:sp>
        <p:nvSpPr>
          <p:cNvPr id="14" name="Text 7"/>
          <p:cNvSpPr/>
          <p:nvPr/>
        </p:nvSpPr>
        <p:spPr>
          <a:xfrm>
            <a:off x="4830247" y="4372332"/>
            <a:ext cx="3498056" cy="257294"/>
          </a:xfrm>
          <a:prstGeom prst="rect">
            <a:avLst/>
          </a:prstGeom>
          <a:noFill/>
          <a:ln/>
        </p:spPr>
        <p:txBody>
          <a:bodyPr wrap="none" lIns="0" tIns="0" rIns="0" bIns="0" rtlCol="0" anchor="t"/>
          <a:lstStyle/>
          <a:p>
            <a:pPr algn="l" indent="0" marL="0">
              <a:lnSpc>
                <a:spcPts val="200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Digitise meeting minutes</a:t>
            </a:r>
            <a:endParaRPr lang="en-US" sz="1400" dirty="0"/>
          </a:p>
        </p:txBody>
      </p:sp>
      <p:sp>
        <p:nvSpPr>
          <p:cNvPr id="15" name="Shape 8"/>
          <p:cNvSpPr/>
          <p:nvPr/>
        </p:nvSpPr>
        <p:spPr>
          <a:xfrm>
            <a:off x="628531" y="4958953"/>
            <a:ext cx="7886938" cy="1678424"/>
          </a:xfrm>
          <a:prstGeom prst="roundRect">
            <a:avLst>
              <a:gd name="adj" fmla="val 4494"/>
            </a:avLst>
          </a:prstGeom>
          <a:solidFill>
            <a:srgbClr val="3D3D42"/>
          </a:solidFill>
          <a:ln w="7620">
            <a:solidFill>
              <a:srgbClr val="56565B"/>
            </a:solidFill>
            <a:prstDash val="solid"/>
          </a:ln>
        </p:spPr>
      </p:sp>
      <p:pic>
        <p:nvPicPr>
          <p:cNvPr id="16" name="Image 5" descr="preencoded.png">    </p:cNvPr>
          <p:cNvPicPr>
            <a:picLocks noChangeAspect="1"/>
          </p:cNvPicPr>
          <p:nvPr/>
        </p:nvPicPr>
        <p:blipFill>
          <a:blip r:embed="rId8"/>
          <a:stretch>
            <a:fillRect/>
          </a:stretch>
        </p:blipFill>
        <p:spPr>
          <a:xfrm>
            <a:off x="815697" y="5146119"/>
            <a:ext cx="538758" cy="538758"/>
          </a:xfrm>
          <a:prstGeom prst="rect">
            <a:avLst/>
          </a:prstGeom>
        </p:spPr>
      </p:pic>
      <p:pic>
        <p:nvPicPr>
          <p:cNvPr id="17" name="Image 6"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3811" y="5294233"/>
            <a:ext cx="242411" cy="242411"/>
          </a:xfrm>
          <a:prstGeom prst="rect">
            <a:avLst/>
          </a:prstGeom>
        </p:spPr>
      </p:pic>
      <p:sp>
        <p:nvSpPr>
          <p:cNvPr id="18" name="Text 9"/>
          <p:cNvSpPr/>
          <p:nvPr/>
        </p:nvSpPr>
        <p:spPr>
          <a:xfrm>
            <a:off x="815697" y="5827038"/>
            <a:ext cx="2244923" cy="280630"/>
          </a:xfrm>
          <a:prstGeom prst="rect">
            <a:avLst/>
          </a:prstGeom>
          <a:noFill/>
          <a:ln/>
        </p:spPr>
        <p:txBody>
          <a:bodyPr wrap="none" lIns="0" tIns="0" rIns="0" bIns="0" rtlCol="0" anchor="t"/>
          <a:lstStyle/>
          <a:p>
            <a:pPr algn="l" indent="0" marL="0">
              <a:lnSpc>
                <a:spcPts val="2200"/>
              </a:lnSpc>
              <a:buNone/>
            </a:pPr>
            <a:r>
              <a:rPr lang="en-US" sz="1750" dirty="0">
                <a:solidFill>
                  <a:srgbClr val="CFD0D8"/>
                </a:solidFill>
                <a:latin typeface="Instrument Sans Semi Bold" pitchFamily="34" charset="0"/>
                <a:ea typeface="Instrument Sans Semi Bold" pitchFamily="34" charset="-122"/>
                <a:cs typeface="Instrument Sans Semi Bold" pitchFamily="34" charset="-120"/>
              </a:rPr>
              <a:t>Teams</a:t>
            </a:r>
            <a:endParaRPr lang="en-US" sz="1750" dirty="0"/>
          </a:p>
        </p:txBody>
      </p:sp>
      <p:sp>
        <p:nvSpPr>
          <p:cNvPr id="19" name="Text 10"/>
          <p:cNvSpPr/>
          <p:nvPr/>
        </p:nvSpPr>
        <p:spPr>
          <a:xfrm>
            <a:off x="815697" y="6192917"/>
            <a:ext cx="7512606" cy="257294"/>
          </a:xfrm>
          <a:prstGeom prst="rect">
            <a:avLst/>
          </a:prstGeom>
          <a:noFill/>
          <a:ln/>
        </p:spPr>
        <p:txBody>
          <a:bodyPr wrap="none" lIns="0" tIns="0" rIns="0" bIns="0" rtlCol="0" anchor="t"/>
          <a:lstStyle/>
          <a:p>
            <a:pPr algn="l" indent="0" marL="0">
              <a:lnSpc>
                <a:spcPts val="200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Share structured content</a:t>
            </a:r>
            <a:endParaRPr lang="en-US" sz="1400" dirty="0"/>
          </a:p>
        </p:txBody>
      </p:sp>
      <p:sp>
        <p:nvSpPr>
          <p:cNvPr id="20" name="Text 11"/>
          <p:cNvSpPr/>
          <p:nvPr/>
        </p:nvSpPr>
        <p:spPr>
          <a:xfrm>
            <a:off x="628531" y="6797278"/>
            <a:ext cx="7886938" cy="257294"/>
          </a:xfrm>
          <a:prstGeom prst="rect">
            <a:avLst/>
          </a:prstGeom>
          <a:noFill/>
          <a:ln/>
        </p:spPr>
        <p:txBody>
          <a:bodyPr wrap="none" lIns="0" tIns="0" rIns="0" bIns="0" rtlCol="0" anchor="t"/>
          <a:lstStyle/>
          <a:p>
            <a:pPr algn="l" indent="0" marL="0">
              <a:lnSpc>
                <a:spcPts val="200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Save time and effort whilst improving organisation and clarity across everyday workflows.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2026-03-09T08:26:55Z</dcterms:created>
  <dcterms:modified xsi:type="dcterms:W3CDTF">2026-03-09T08:26:55Z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13133628</vt:lpwstr>
  </property>
  <property fmtid="{D5CDD505-2E9C-101B-9397-08002B2CF9AE}" name="NXPowerLiteSettings" pid="3">
    <vt:lpwstr>F7000400038000</vt:lpwstr>
  </property>
  <property fmtid="{D5CDD505-2E9C-101B-9397-08002B2CF9AE}" name="NXPowerLiteVersion" pid="4">
    <vt:lpwstr>S10.9.5</vt:lpwstr>
  </property>
</Properties>
</file>